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Good morning. This is North Star. Biswa built the agents and the data layer; I built the interface, the cloud deployment and the testing. By the end of this talk you will be using it on your own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It's Monday, 8:55. I've got one question: can I take Friday off? To answer it I need the HR system for my balance, the handbook for the rules, and my task board to see what's due. Then I find out I can't start my task anyway, because I don't have VPN access, which is a fourth system and a form I've never filled in. None of that is hard. It's just scattered. Every company has the answers; nobody has the map. So we built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BISWA. North Star isn't one chatbot. It's a team. A coordinator agent listens to the request and decides who should handle it. Behind it are three specialists: HR, developer work, and IT. Each can only touch its own tools, and each can only see the signed-in employee's records. Four rules shaped every decision, and these are them. The first and third matter most: the model never does the maths, and an agent can draft but only a person can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BISWA. Here is the path a question takes. The employee types into the Streamlit app, which runs on EC2 and decides who they are. The coordinator picks the specialists. All four are separate Strands agents, and each one calls Amazon Nova 2 Lite on Bedrock. IT and Developer read DynamoDB. HR reads DynamoDB and searches the Bedrock Knowledge Base for policy. Look at the box on the bottom left: that is plain application code, not an agent. It reads the numbers for the dashboard tiles straight from DynamoDB, and it is the only thing that writes a request. Confirm uses a conditional write, so one draft can only ever become one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BISWA. Twenty-seven AWS tools and services in six groups. Don't read them all out. Point at three: Bedrock with Nova 2 Lite is the brain of every agent; DynamoDB holds every record; and the whole operations group on the bottom left came from our previous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This is the real thing in the AWS console, not a diagram. Top left: one DynamoDB query returns all of David's records, because every item for an employee shares a partition key. Top right: the Bedrock Knowledge Base that holds the policy documents. Bottom left: the EC2 server running the site you are about to use. Bottom right: the schedules. That last one is the part I like most. For our last AWS project we built an EC2 scheduler. For North Star we didn't start over: the demo server carries the same tag, so that automation powered it on at 8 this morning and will shut it down at 6 tonight. It also became our deployment process, because the app pulls the latest code from GitHub every time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drives, BISWA narrates. Switch to the browser now. Sign in as David FIRST so the conversation is fresh. Ask the five questions in order. After question 3, pause on the line under the answer and open 'How North Star answered' to show the three hand-offs. For question 4, show the draft card, click Confirm, then click it again to show nothing new is created. Say the rule before each one. If Bedrock is slow, keep talking through what the audience should see; do not wait in silence. Close the demo by saying the numbers out loud, since there is no results slide: we tested it with 30 cases written before the agents existed; the first run passed 24 and found a wrong dollar figure and a missing refusal; after fixes it passed all 30, with a typical answer in under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Here is what it really cost. On the left are actual figures from AWS Cost Explorer for the hosting account, October 6 through 9: a dollar ninety-one of usage, mostly the model and the server, and all of it covered by AWS credits, so we paid nothing. On the right is our own estimate, not a quote, of what a large company would spend to put the same idea into production. The agents are not the expensive part. The money goes on connecting to the real HR, project and IT systems, on single sign-on, on security and privacy review, and on testing and support. Say clearly that the right-hand side is an estimate and the assumptions are on the slide. The point: the technology is now cheap enough for two students to build in a day; what a company pays for is trust and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Now it's your turn. Scan the code, type your first name, and ask it anything about your workday. Each of you has your own profile with your own numbers. The three questions on the slide are good ones to start with. Leave this slide up while people try it, then move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Take questions. Likely ones: Is the data real? (No, all fictional.) Could it connect to real Workday or Jira? (Yes, through MCP; that is the main next step, along with real sign-in and running the agents on Bedrock AgentCore.) How did you use AI? (Biswa to learn step by step, David to build while keeping the decisions; both checked its work with a real phone and a 30-case test run.) Where does the corporate estimate come from? (Our own assumptions, shown on the cost slide; it is not a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NTENT_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_B-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900" spc="100" kern="0" dirty="0">
                <a:solidFill>
                  <a:srgbClr val="6F849C"/>
                </a:solidFill>
                <a:latin typeface="Calibri" pitchFamily="34" charset="0"/>
                <a:ea typeface="Calibri" pitchFamily="34" charset="-122"/>
                <a:cs typeface="Calibri" pitchFamily="34" charset="-120"/>
              </a:rPr>
              <a:t>NORTH STAR   |   Agentic AI, IT Expert System</a:t>
            </a:r>
            <a:endParaRPr lang="en-US" sz="900" dirty="0"/>
          </a:p>
        </p:txBody>
      </p:sp>
      <p:sp>
        <p:nvSpPr>
          <p:cNvPr id="3" name="Text 1"/>
          <p:cNvSpPr/>
          <p:nvPr>
            <p:ph idx="101" type="title" hasCustomPrompt="1"/>
          </p:nvPr>
        </p:nvSpPr>
        <p:spPr>
          <a:xfrm>
            <a:off x="1097280" y="384048"/>
            <a:ext cx="10607040" cy="685800"/>
          </a:xfrm>
          <a:prstGeom prst="rect">
            <a:avLst/>
          </a:prstGeom>
          <a:noFill/>
          <a:ln/>
        </p:spPr>
        <p:txBody>
          <a:bodyPr wrap="square" rtlCol="0"/>
          <a:lstStyle>
            <a:lvl1pPr algn="l" indent="0" marL="0">
              <a:buNone/>
              <a:defRPr lang="en-US" sz="3200" b="1" dirty="0">
                <a:solidFill>
                  <a:srgbClr val="F4F8FC"/>
                </a:solidFill>
                <a:latin typeface="Calibri" pitchFamily="34" charset="0"/>
                <a:ea typeface="Calibri" pitchFamily="34" charset="-122"/>
                <a:cs typeface="Calibri" pitchFamily="34" charset="-120"/>
              </a:defRPr>
            </a:lvl1pPr>
          </a:lstStyle>
          <a:p>
            <a:pPr algn="l" indent="0" marL="0">
              <a:buNone/>
            </a:pPr>
            <a:endParaRPr lang="en-US" sz="3200" dirty="0"/>
          </a:p>
        </p:txBody>
      </p:sp>
      <p:pic>
        <p:nvPicPr>
          <p:cNvPr id="4" name="Image 0" descr="preencoded.png">    </p:cNvPr>
          <p:cNvPicPr>
            <a:picLocks noChangeAspect="1"/>
          </p:cNvPicPr>
          <p:nvPr/>
        </p:nvPicPr>
        <p:blipFill>
          <a:blip r:embed="rId1"/>
          <a:stretch>
            <a:fillRect/>
          </a:stretch>
        </p:blipFill>
        <p:spPr>
          <a:xfrm>
            <a:off x="548640" y="516636"/>
            <a:ext cx="420624" cy="420624"/>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900" spc="100" kern="0" dirty="0">
                <a:solidFill>
                  <a:srgbClr val="6F849C"/>
                </a:solidFill>
                <a:latin typeface="Calibri" pitchFamily="34" charset="0"/>
                <a:ea typeface="Calibri" pitchFamily="34" charset="-122"/>
                <a:cs typeface="Calibri" pitchFamily="34" charset="-120"/>
              </a:rPr>
              <a:t>NORTH STAR   |   Agentic AI, IT Expert System</a:t>
            </a:r>
            <a:endParaRPr lang="en-US" sz="900" dirty="0"/>
          </a:p>
        </p:txBody>
      </p:sp>
      <p:sp>
        <p:nvSpPr>
          <p:cNvPr id="3" name="Text 1"/>
          <p:cNvSpPr/>
          <p:nvPr>
            <p:ph idx="101" type="title" hasCustomPrompt="1"/>
          </p:nvPr>
        </p:nvSpPr>
        <p:spPr>
          <a:xfrm>
            <a:off x="1097280" y="384048"/>
            <a:ext cx="10607040" cy="685800"/>
          </a:xfrm>
          <a:prstGeom prst="rect">
            <a:avLst/>
          </a:prstGeom>
          <a:noFill/>
          <a:ln/>
        </p:spPr>
        <p:txBody>
          <a:bodyPr wrap="square" rtlCol="0"/>
          <a:lstStyle>
            <a:lvl1pPr algn="l" indent="0" marL="0">
              <a:buNone/>
              <a:defRPr lang="en-US" sz="3200" b="1" dirty="0">
                <a:solidFill>
                  <a:srgbClr val="F4F8FC"/>
                </a:solidFill>
                <a:latin typeface="Calibri" pitchFamily="34" charset="0"/>
                <a:ea typeface="Calibri" pitchFamily="34" charset="-122"/>
                <a:cs typeface="Calibri" pitchFamily="34" charset="-120"/>
              </a:defRPr>
            </a:lvl1pPr>
          </a:lstStyle>
          <a:p>
            <a:pPr algn="l" indent="0" marL="0">
              <a:buNone/>
            </a:pPr>
            <a:endParaRPr lang="en-US" sz="3200" dirty="0"/>
          </a:p>
        </p:txBody>
      </p:sp>
      <p:pic>
        <p:nvPicPr>
          <p:cNvPr id="4" name="Image 0" descr="preencoded.png">    </p:cNvPr>
          <p:cNvPicPr>
            <a:picLocks noChangeAspect="1"/>
          </p:cNvPicPr>
          <p:nvPr/>
        </p:nvPicPr>
        <p:blipFill>
          <a:blip r:embed="rId1"/>
          <a:stretch>
            <a:fillRect/>
          </a:stretch>
        </p:blipFill>
        <p:spPr>
          <a:xfrm>
            <a:off x="548640" y="516636"/>
            <a:ext cx="420624" cy="420624"/>
          </a:xfrm>
          <a:prstGeom prst="rect">
            <a:avLst/>
          </a:prstGeom>
        </p:spPr>
      </p:pic>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977919" y="457200"/>
            <a:ext cx="4756576" cy="5943600"/>
          </a:xfrm>
          <a:prstGeom prst="rect">
            <a:avLst/>
          </a:prstGeom>
          <a:solidFill>
            <a:srgbClr val="081120"/>
          </a:solidFill>
          <a:ln w="15875">
            <a:solidFill>
              <a:srgbClr val="8EE3F5">
                <a:alpha val="60000"/>
              </a:srgbClr>
            </a:solidFill>
            <a:prstDash val="solid"/>
          </a:ln>
          <a:effectLst>
            <a:outerShdw sx="100000" sy="100000" kx="0" ky="0" algn="bl" rotWithShape="0" blurRad="381000" dist="50800" dir="5400000">
              <a:srgbClr val="8EE3F5">
                <a:alpha val="50000"/>
              </a:srgbClr>
            </a:outerShdw>
          </a:effectLst>
        </p:spPr>
      </p:sp>
      <p:pic>
        <p:nvPicPr>
          <p:cNvPr id="3" name="Image 0" descr="North Star launch poster: two figures on a mountain ridge under an aurora and a bright star">    </p:cNvPr>
          <p:cNvPicPr>
            <a:picLocks noChangeAspect="1"/>
          </p:cNvPicPr>
          <p:nvPr/>
        </p:nvPicPr>
        <p:blipFill>
          <a:blip r:embed="rId1"/>
          <a:stretch>
            <a:fillRect/>
          </a:stretch>
        </p:blipFill>
        <p:spPr>
          <a:xfrm>
            <a:off x="6977919" y="457200"/>
            <a:ext cx="4756576" cy="5943600"/>
          </a:xfrm>
          <a:prstGeom prst="rect">
            <a:avLst/>
          </a:prstGeom>
        </p:spPr>
      </p:pic>
      <p:pic>
        <p:nvPicPr>
          <p:cNvPr id="4" name="Image 1" descr="North Star mark">    </p:cNvPr>
          <p:cNvPicPr>
            <a:picLocks noChangeAspect="1"/>
          </p:cNvPicPr>
          <p:nvPr/>
        </p:nvPicPr>
        <p:blipFill>
          <a:blip r:embed="rId2"/>
          <a:stretch>
            <a:fillRect/>
          </a:stretch>
        </p:blipFill>
        <p:spPr>
          <a:xfrm>
            <a:off x="685800" y="713232"/>
            <a:ext cx="457200" cy="457200"/>
          </a:xfrm>
          <a:prstGeom prst="rect">
            <a:avLst/>
          </a:prstGeom>
        </p:spPr>
      </p:pic>
      <p:sp>
        <p:nvSpPr>
          <p:cNvPr id="5" name="Text 1"/>
          <p:cNvSpPr txBox="1"/>
          <p:nvPr/>
        </p:nvSpPr>
        <p:spPr>
          <a:xfrm>
            <a:off x="1298448" y="731520"/>
            <a:ext cx="3657600" cy="420624"/>
          </a:xfrm>
          <a:prstGeom prst="rect">
            <a:avLst/>
          </a:prstGeom>
          <a:noFill/>
          <a:ln/>
        </p:spPr>
        <p:txBody>
          <a:bodyPr wrap="square" lIns="0" tIns="0" rIns="0" bIns="0" rtlCol="0" anchor="ctr"/>
          <a:lstStyle/>
          <a:p>
            <a:pPr indent="0" marL="0">
              <a:buNone/>
            </a:pPr>
            <a:r>
              <a:rPr lang="en-US" sz="1500" b="1" spc="1000" kern="0" dirty="0">
                <a:solidFill>
                  <a:srgbClr val="8EE3F5"/>
                </a:solidFill>
                <a:latin typeface="Calibri" pitchFamily="34" charset="0"/>
                <a:ea typeface="Calibri" pitchFamily="34" charset="-122"/>
                <a:cs typeface="Calibri" pitchFamily="34" charset="-120"/>
              </a:rPr>
              <a:t>NORTH STAR</a:t>
            </a:r>
            <a:endParaRPr lang="en-US" sz="1500" dirty="0"/>
          </a:p>
        </p:txBody>
      </p:sp>
      <p:sp>
        <p:nvSpPr>
          <p:cNvPr id="6" name="Text 2"/>
          <p:cNvSpPr txBox="1"/>
          <p:nvPr/>
        </p:nvSpPr>
        <p:spPr>
          <a:xfrm>
            <a:off x="685800" y="1600200"/>
            <a:ext cx="5852160" cy="1965960"/>
          </a:xfrm>
          <a:prstGeom prst="rect">
            <a:avLst/>
          </a:prstGeom>
          <a:noFill/>
          <a:ln/>
        </p:spPr>
        <p:txBody>
          <a:bodyPr wrap="square" lIns="0" tIns="0" rIns="0" bIns="0" rtlCol="0" anchor="t"/>
          <a:lstStyle/>
          <a:p>
            <a:pPr indent="0" marL="0">
              <a:lnSpc>
                <a:spcPct val="92000"/>
              </a:lnSpc>
              <a:buNone/>
            </a:pPr>
            <a:r>
              <a:rPr lang="en-US" sz="6400" b="1" dirty="0">
                <a:solidFill>
                  <a:srgbClr val="F4F8FC"/>
                </a:solidFill>
                <a:latin typeface="Calibri" pitchFamily="34" charset="0"/>
                <a:ea typeface="Calibri" pitchFamily="34" charset="-122"/>
                <a:cs typeface="Calibri" pitchFamily="34" charset="-120"/>
              </a:rPr>
              <a:t>Your workday.</a:t>
            </a:r>
            <a:endParaRPr lang="en-US" sz="6400" dirty="0"/>
          </a:p>
          <a:p>
            <a:pPr indent="0" marL="0">
              <a:lnSpc>
                <a:spcPct val="92000"/>
              </a:lnSpc>
              <a:buNone/>
            </a:pPr>
            <a:r>
              <a:rPr lang="en-US" sz="6400" b="1" dirty="0">
                <a:solidFill>
                  <a:srgbClr val="5CE6B0"/>
                </a:solidFill>
                <a:latin typeface="Calibri" pitchFamily="34" charset="0"/>
                <a:ea typeface="Calibri" pitchFamily="34" charset="-122"/>
                <a:cs typeface="Calibri" pitchFamily="34" charset="-120"/>
              </a:rPr>
              <a:t>On course.</a:t>
            </a:r>
            <a:endParaRPr lang="en-US" sz="6400" dirty="0"/>
          </a:p>
        </p:txBody>
      </p:sp>
      <p:sp>
        <p:nvSpPr>
          <p:cNvPr id="7" name="Text 3"/>
          <p:cNvSpPr txBox="1"/>
          <p:nvPr/>
        </p:nvSpPr>
        <p:spPr>
          <a:xfrm>
            <a:off x="685800" y="3703320"/>
            <a:ext cx="5669280" cy="457200"/>
          </a:xfrm>
          <a:prstGeom prst="rect">
            <a:avLst/>
          </a:prstGeom>
          <a:noFill/>
          <a:ln/>
        </p:spPr>
        <p:txBody>
          <a:bodyPr wrap="square" lIns="0" tIns="0" rIns="0" bIns="0" rtlCol="0" anchor="ctr"/>
          <a:lstStyle/>
          <a:p>
            <a:pPr indent="0" marL="0">
              <a:buNone/>
            </a:pPr>
            <a:r>
              <a:rPr lang="en-US" sz="2000" dirty="0">
                <a:solidFill>
                  <a:srgbClr val="A3B5C9"/>
                </a:solidFill>
                <a:latin typeface="Calibri" pitchFamily="34" charset="0"/>
                <a:ea typeface="Calibri" pitchFamily="34" charset="-122"/>
                <a:cs typeface="Calibri" pitchFamily="34" charset="-120"/>
              </a:rPr>
              <a:t>An employee assistant built with AI agents on AWS</a:t>
            </a:r>
            <a:endParaRPr lang="en-US" sz="2000" dirty="0"/>
          </a:p>
        </p:txBody>
      </p:sp>
      <p:sp>
        <p:nvSpPr>
          <p:cNvPr id="8" name="Text 4"/>
          <p:cNvSpPr txBox="1"/>
          <p:nvPr/>
        </p:nvSpPr>
        <p:spPr>
          <a:xfrm>
            <a:off x="685800" y="4709160"/>
            <a:ext cx="5486400" cy="411480"/>
          </a:xfrm>
          <a:prstGeom prst="rect">
            <a:avLst/>
          </a:prstGeom>
          <a:noFill/>
          <a:ln/>
        </p:spPr>
        <p:txBody>
          <a:bodyPr wrap="square" lIns="0" tIns="0" rIns="0" bIns="0" rtlCol="0" anchor="ctr"/>
          <a:lstStyle/>
          <a:p>
            <a:pPr indent="0" marL="0">
              <a:buNone/>
            </a:pPr>
            <a:r>
              <a:rPr lang="en-US" sz="2000" b="1" dirty="0">
                <a:solidFill>
                  <a:srgbClr val="F4F8FC"/>
                </a:solidFill>
                <a:latin typeface="Calibri" pitchFamily="34" charset="0"/>
                <a:ea typeface="Calibri" pitchFamily="34" charset="-122"/>
                <a:cs typeface="Calibri" pitchFamily="34" charset="-120"/>
              </a:rPr>
              <a:t>David Dunmeyer and Biswa Samal</a:t>
            </a:r>
            <a:endParaRPr lang="en-US" sz="2000" dirty="0"/>
          </a:p>
        </p:txBody>
      </p:sp>
      <p:sp>
        <p:nvSpPr>
          <p:cNvPr id="9" name="Text 5"/>
          <p:cNvSpPr txBox="1"/>
          <p:nvPr/>
        </p:nvSpPr>
        <p:spPr>
          <a:xfrm>
            <a:off x="685800" y="5120640"/>
            <a:ext cx="5486400" cy="320040"/>
          </a:xfrm>
          <a:prstGeom prst="rect">
            <a:avLst/>
          </a:prstGeom>
          <a:noFill/>
          <a:ln/>
        </p:spPr>
        <p:txBody>
          <a:bodyPr wrap="square" lIns="0" tIns="0" rIns="0" bIns="0" rtlCol="0" anchor="ctr"/>
          <a:lstStyle/>
          <a:p>
            <a:pPr indent="0" marL="0">
              <a:buNone/>
            </a:pPr>
            <a:r>
              <a:rPr lang="en-US" sz="1400" dirty="0">
                <a:solidFill>
                  <a:srgbClr val="8EE3F5"/>
                </a:solidFill>
                <a:latin typeface="Calibri" pitchFamily="34" charset="0"/>
                <a:ea typeface="Calibri" pitchFamily="34" charset="-122"/>
                <a:cs typeface="Calibri" pitchFamily="34" charset="-120"/>
              </a:rPr>
              <a:t>Agentic AI  |  IT Expert System</a:t>
            </a:r>
            <a:endParaRPr lang="en-US" sz="1400" dirty="0"/>
          </a:p>
        </p:txBody>
      </p:sp>
      <p:sp>
        <p:nvSpPr>
          <p:cNvPr id="10" name="Shape 6"/>
          <p:cNvSpPr/>
          <p:nvPr/>
        </p:nvSpPr>
        <p:spPr>
          <a:xfrm>
            <a:off x="685800" y="5596128"/>
            <a:ext cx="1874520" cy="384048"/>
          </a:xfrm>
          <a:prstGeom prst="roundRect">
            <a:avLst>
              <a:gd name="adj" fmla="val 50000"/>
            </a:avLst>
          </a:prstGeom>
          <a:solidFill>
            <a:srgbClr val="F2C46D">
              <a:alpha val="12000"/>
            </a:srgbClr>
          </a:solidFill>
          <a:ln w="12700">
            <a:solidFill>
              <a:srgbClr val="F2C46D"/>
            </a:solidFill>
            <a:prstDash val="solid"/>
          </a:ln>
        </p:spPr>
      </p:sp>
      <p:sp>
        <p:nvSpPr>
          <p:cNvPr id="11" name="Text 7"/>
          <p:cNvSpPr txBox="1"/>
          <p:nvPr/>
        </p:nvSpPr>
        <p:spPr>
          <a:xfrm>
            <a:off x="685800" y="5596128"/>
            <a:ext cx="1874520" cy="384048"/>
          </a:xfrm>
          <a:prstGeom prst="rect">
            <a:avLst/>
          </a:prstGeom>
          <a:noFill/>
          <a:ln/>
        </p:spPr>
        <p:txBody>
          <a:bodyPr wrap="square" lIns="0" tIns="0" rIns="0" bIns="0" rtlCol="0" anchor="ctr"/>
          <a:lstStyle/>
          <a:p>
            <a:pPr algn="ctr" indent="0" marL="0">
              <a:buNone/>
            </a:pPr>
            <a:r>
              <a:rPr lang="en-US" sz="1300" b="1" dirty="0">
                <a:solidFill>
                  <a:srgbClr val="F2C46D"/>
                </a:solidFill>
                <a:latin typeface="Calibri" pitchFamily="34" charset="0"/>
                <a:ea typeface="Calibri" pitchFamily="34" charset="-122"/>
                <a:cs typeface="Calibri" pitchFamily="34" charset="-120"/>
              </a:rPr>
              <a:t>October 10,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097280" y="384048"/>
            <a:ext cx="10607040" cy="685800"/>
          </a:xfrm>
          <a:prstGeom prst="rect">
            <a:avLst/>
          </a:prstGeom>
          <a:noFill/>
          <a:ln/>
        </p:spPr>
        <p:txBody>
          <a:bodyPr wrap="square" lIns="0" tIns="0" rIns="0" bIns="0" rtlCol="0" anchor="ctr"/>
          <a:lstStyle/>
          <a:p>
            <a:pPr algn="l" indent="0" marL="0">
              <a:buNone/>
            </a:pPr>
            <a:r>
              <a:rPr lang="en-US" sz="3200" b="1" dirty="0">
                <a:solidFill>
                  <a:srgbClr val="F4F8FC"/>
                </a:solidFill>
                <a:latin typeface="Calibri" pitchFamily="34" charset="0"/>
                <a:ea typeface="Calibri" pitchFamily="34" charset="-122"/>
                <a:cs typeface="Calibri" pitchFamily="34" charset="-120"/>
              </a:rPr>
              <a:t>One simple question, four different systems</a:t>
            </a:r>
            <a:endParaRPr lang="en-US" sz="3200" dirty="0"/>
          </a:p>
        </p:txBody>
      </p:sp>
      <p:sp>
        <p:nvSpPr>
          <p:cNvPr id="3" name="Text 1"/>
          <p:cNvSpPr txBox="1"/>
          <p:nvPr/>
        </p:nvSpPr>
        <p:spPr>
          <a:xfrm>
            <a:off x="548640" y="1371600"/>
            <a:ext cx="3657600" cy="274320"/>
          </a:xfrm>
          <a:prstGeom prst="rect">
            <a:avLst/>
          </a:prstGeom>
          <a:noFill/>
          <a:ln/>
        </p:spPr>
        <p:txBody>
          <a:bodyPr wrap="square" lIns="0" tIns="0" rIns="0" bIns="0" rtlCol="0" anchor="ctr"/>
          <a:lstStyle/>
          <a:p>
            <a:pPr indent="0" marL="0">
              <a:buNone/>
            </a:pPr>
            <a:r>
              <a:rPr lang="en-US" sz="1100" b="1" spc="300" kern="0" dirty="0">
                <a:solidFill>
                  <a:srgbClr val="F2C46D"/>
                </a:solidFill>
                <a:latin typeface="Calibri" pitchFamily="34" charset="0"/>
                <a:ea typeface="Calibri" pitchFamily="34" charset="-122"/>
                <a:cs typeface="Calibri" pitchFamily="34" charset="-120"/>
              </a:rPr>
              <a:t>MONDAY, 8:55 AM</a:t>
            </a:r>
            <a:endParaRPr lang="en-US" sz="1100" dirty="0"/>
          </a:p>
        </p:txBody>
      </p:sp>
      <p:sp>
        <p:nvSpPr>
          <p:cNvPr id="4" name="Shape 2"/>
          <p:cNvSpPr/>
          <p:nvPr/>
        </p:nvSpPr>
        <p:spPr>
          <a:xfrm>
            <a:off x="548640" y="1737360"/>
            <a:ext cx="6035040" cy="1097280"/>
          </a:xfrm>
          <a:prstGeom prst="roundRect">
            <a:avLst>
              <a:gd name="adj" fmla="val 25000"/>
            </a:avLst>
          </a:prstGeom>
          <a:solidFill>
            <a:srgbClr val="132842">
              <a:alpha val="95000"/>
            </a:srgbClr>
          </a:solidFill>
          <a:ln w="12700">
            <a:solidFill>
              <a:srgbClr val="8EE3F5"/>
            </a:solidFill>
            <a:prstDash val="solid"/>
          </a:ln>
          <a:effectLst>
            <a:outerShdw sx="100000" sy="100000" kx="0" ky="0" algn="bl" rotWithShape="0" blurRad="177800" dist="50800" dir="5400000">
              <a:srgbClr val="8EE3F5">
                <a:alpha val="55000"/>
              </a:srgbClr>
            </a:outerShdw>
          </a:effectLst>
        </p:spPr>
      </p:sp>
      <p:sp>
        <p:nvSpPr>
          <p:cNvPr id="5" name="Shape 3"/>
          <p:cNvSpPr/>
          <p:nvPr/>
        </p:nvSpPr>
        <p:spPr>
          <a:xfrm>
            <a:off x="777240" y="1984248"/>
            <a:ext cx="603504" cy="603504"/>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6" name="Image 0" descr="preencoded.png">    </p:cNvPr>
          <p:cNvPicPr>
            <a:picLocks noChangeAspect="1"/>
          </p:cNvPicPr>
          <p:nvPr/>
        </p:nvPicPr>
        <p:blipFill>
          <a:blip r:embed="rId1"/>
          <a:stretch>
            <a:fillRect/>
          </a:stretch>
        </p:blipFill>
        <p:spPr>
          <a:xfrm>
            <a:off x="934151" y="2141159"/>
            <a:ext cx="289682" cy="289682"/>
          </a:xfrm>
          <a:prstGeom prst="rect">
            <a:avLst/>
          </a:prstGeom>
        </p:spPr>
      </p:pic>
      <p:sp>
        <p:nvSpPr>
          <p:cNvPr id="7" name="Text 4"/>
          <p:cNvSpPr txBox="1"/>
          <p:nvPr/>
        </p:nvSpPr>
        <p:spPr>
          <a:xfrm>
            <a:off x="1554480" y="1737360"/>
            <a:ext cx="4937760" cy="1097280"/>
          </a:xfrm>
          <a:prstGeom prst="rect">
            <a:avLst/>
          </a:prstGeom>
          <a:noFill/>
          <a:ln/>
        </p:spPr>
        <p:txBody>
          <a:bodyPr wrap="square" lIns="0" tIns="0" rIns="0" bIns="0" rtlCol="0" anchor="ctr"/>
          <a:lstStyle/>
          <a:p>
            <a:pPr indent="0" marL="0">
              <a:buNone/>
            </a:pPr>
            <a:r>
              <a:rPr lang="en-US" sz="4000" b="1" dirty="0">
                <a:solidFill>
                  <a:srgbClr val="F4F8FC"/>
                </a:solidFill>
                <a:latin typeface="Calibri" pitchFamily="34" charset="0"/>
                <a:ea typeface="Calibri" pitchFamily="34" charset="-122"/>
                <a:cs typeface="Calibri" pitchFamily="34" charset="-120"/>
              </a:rPr>
              <a:t>Can I take Friday off?</a:t>
            </a:r>
            <a:endParaRPr lang="en-US" sz="4000" dirty="0"/>
          </a:p>
        </p:txBody>
      </p:sp>
      <p:sp>
        <p:nvSpPr>
          <p:cNvPr id="8" name="Text 5"/>
          <p:cNvSpPr txBox="1"/>
          <p:nvPr/>
        </p:nvSpPr>
        <p:spPr>
          <a:xfrm>
            <a:off x="6995160" y="1737360"/>
            <a:ext cx="4645152" cy="1097280"/>
          </a:xfrm>
          <a:prstGeom prst="rect">
            <a:avLst/>
          </a:prstGeom>
          <a:noFill/>
          <a:ln/>
        </p:spPr>
        <p:txBody>
          <a:bodyPr wrap="square" lIns="0" tIns="0" rIns="0" bIns="0" rtlCol="0" anchor="ctr"/>
          <a:lstStyle/>
          <a:p>
            <a:pPr indent="0" marL="0">
              <a:buNone/>
            </a:pPr>
            <a:r>
              <a:rPr lang="en-US" sz="1900" dirty="0">
                <a:solidFill>
                  <a:srgbClr val="A3B5C9"/>
                </a:solidFill>
                <a:latin typeface="Calibri" pitchFamily="34" charset="0"/>
                <a:ea typeface="Calibri" pitchFamily="34" charset="-122"/>
                <a:cs typeface="Calibri" pitchFamily="34" charset="-120"/>
              </a:rPr>
              <a:t>It should take ten seconds. It takes four systems, three logins and a 40-page PDF.</a:t>
            </a:r>
            <a:endParaRPr lang="en-US" sz="1900" dirty="0"/>
          </a:p>
        </p:txBody>
      </p:sp>
      <p:sp>
        <p:nvSpPr>
          <p:cNvPr id="9" name="Shape 6"/>
          <p:cNvSpPr/>
          <p:nvPr/>
        </p:nvSpPr>
        <p:spPr>
          <a:xfrm>
            <a:off x="548640" y="3200400"/>
            <a:ext cx="2615184" cy="2148840"/>
          </a:xfrm>
          <a:prstGeom prst="roundRect">
            <a:avLst>
              <a:gd name="adj" fmla="val 5957"/>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0" name="Shape 7"/>
          <p:cNvSpPr/>
          <p:nvPr/>
        </p:nvSpPr>
        <p:spPr>
          <a:xfrm>
            <a:off x="777240" y="3456432"/>
            <a:ext cx="731520" cy="731520"/>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11" name="Image 1" descr="HR system">    </p:cNvPr>
          <p:cNvPicPr>
            <a:picLocks noChangeAspect="1"/>
          </p:cNvPicPr>
          <p:nvPr/>
        </p:nvPicPr>
        <p:blipFill>
          <a:blip r:embed="rId2"/>
          <a:stretch>
            <a:fillRect/>
          </a:stretch>
        </p:blipFill>
        <p:spPr>
          <a:xfrm>
            <a:off x="941832" y="3621024"/>
            <a:ext cx="402336" cy="402336"/>
          </a:xfrm>
          <a:prstGeom prst="rect">
            <a:avLst/>
          </a:prstGeom>
        </p:spPr>
      </p:pic>
      <p:sp>
        <p:nvSpPr>
          <p:cNvPr id="12" name="Shape 8"/>
          <p:cNvSpPr/>
          <p:nvPr/>
        </p:nvSpPr>
        <p:spPr>
          <a:xfrm>
            <a:off x="2093976" y="3493008"/>
            <a:ext cx="868680" cy="292608"/>
          </a:xfrm>
          <a:prstGeom prst="roundRect">
            <a:avLst>
              <a:gd name="adj" fmla="val 50000"/>
            </a:avLst>
          </a:prstGeom>
          <a:solidFill>
            <a:srgbClr val="F2C46D">
              <a:alpha val="12000"/>
            </a:srgbClr>
          </a:solidFill>
          <a:ln w="9525">
            <a:solidFill>
              <a:srgbClr val="F2C46D"/>
            </a:solidFill>
            <a:prstDash val="solid"/>
          </a:ln>
        </p:spPr>
      </p:sp>
      <p:sp>
        <p:nvSpPr>
          <p:cNvPr id="13" name="Text 9"/>
          <p:cNvSpPr txBox="1"/>
          <p:nvPr/>
        </p:nvSpPr>
        <p:spPr>
          <a:xfrm>
            <a:off x="2093976" y="3493008"/>
            <a:ext cx="868680" cy="292608"/>
          </a:xfrm>
          <a:prstGeom prst="rect">
            <a:avLst/>
          </a:prstGeom>
          <a:noFill/>
          <a:ln/>
        </p:spPr>
        <p:txBody>
          <a:bodyPr wrap="square" lIns="0" tIns="0" rIns="0" bIns="0" rtlCol="0" anchor="ctr"/>
          <a:lstStyle/>
          <a:p>
            <a:pPr algn="ctr" indent="0" marL="0">
              <a:buNone/>
            </a:pPr>
            <a:r>
              <a:rPr lang="en-US" sz="900" b="1" spc="150" kern="0" dirty="0">
                <a:solidFill>
                  <a:srgbClr val="F2C46D"/>
                </a:solidFill>
                <a:latin typeface="Calibri" pitchFamily="34" charset="0"/>
                <a:ea typeface="Calibri" pitchFamily="34" charset="-122"/>
                <a:cs typeface="Calibri" pitchFamily="34" charset="-120"/>
              </a:rPr>
              <a:t>LOGIN 1</a:t>
            </a:r>
            <a:endParaRPr lang="en-US" sz="900" dirty="0"/>
          </a:p>
        </p:txBody>
      </p:sp>
      <p:sp>
        <p:nvSpPr>
          <p:cNvPr id="14" name="Text 10"/>
          <p:cNvSpPr txBox="1"/>
          <p:nvPr/>
        </p:nvSpPr>
        <p:spPr>
          <a:xfrm>
            <a:off x="777240" y="4389120"/>
            <a:ext cx="2157984" cy="365760"/>
          </a:xfrm>
          <a:prstGeom prst="rect">
            <a:avLst/>
          </a:prstGeom>
          <a:noFill/>
          <a:ln/>
        </p:spPr>
        <p:txBody>
          <a:bodyPr wrap="square" lIns="0" tIns="0" rIns="0" bIns="0" rtlCol="0" anchor="ctr"/>
          <a:lstStyle/>
          <a:p>
            <a:pPr indent="0" marL="0">
              <a:buNone/>
            </a:pPr>
            <a:r>
              <a:rPr lang="en-US" sz="2000" b="1" dirty="0">
                <a:solidFill>
                  <a:srgbClr val="F4F8FC"/>
                </a:solidFill>
                <a:latin typeface="Calibri" pitchFamily="34" charset="0"/>
                <a:ea typeface="Calibri" pitchFamily="34" charset="-122"/>
                <a:cs typeface="Calibri" pitchFamily="34" charset="-120"/>
              </a:rPr>
              <a:t>HR system</a:t>
            </a:r>
            <a:endParaRPr lang="en-US" sz="2000" dirty="0"/>
          </a:p>
        </p:txBody>
      </p:sp>
      <p:sp>
        <p:nvSpPr>
          <p:cNvPr id="15" name="Text 11"/>
          <p:cNvSpPr txBox="1"/>
          <p:nvPr/>
        </p:nvSpPr>
        <p:spPr>
          <a:xfrm>
            <a:off x="777240" y="4754880"/>
            <a:ext cx="2157984" cy="457200"/>
          </a:xfrm>
          <a:prstGeom prst="rect">
            <a:avLst/>
          </a:prstGeom>
          <a:noFill/>
          <a:ln/>
        </p:spPr>
        <p:txBody>
          <a:bodyPr wrap="square" lIns="0" tIns="0" rIns="0" bIns="0" rtlCol="0" anchor="t"/>
          <a:lstStyle/>
          <a:p>
            <a:pPr indent="0" marL="0">
              <a:buNone/>
            </a:pPr>
            <a:r>
              <a:rPr lang="en-US" sz="1400" dirty="0">
                <a:solidFill>
                  <a:srgbClr val="A3B5C9"/>
                </a:solidFill>
                <a:latin typeface="Calibri" pitchFamily="34" charset="0"/>
                <a:ea typeface="Calibri" pitchFamily="34" charset="-122"/>
                <a:cs typeface="Calibri" pitchFamily="34" charset="-120"/>
              </a:rPr>
              <a:t>your time-off balance</a:t>
            </a:r>
            <a:endParaRPr lang="en-US" sz="1400" dirty="0"/>
          </a:p>
        </p:txBody>
      </p:sp>
      <p:sp>
        <p:nvSpPr>
          <p:cNvPr id="16" name="Shape 12"/>
          <p:cNvSpPr/>
          <p:nvPr/>
        </p:nvSpPr>
        <p:spPr>
          <a:xfrm>
            <a:off x="3374136" y="3200400"/>
            <a:ext cx="2615184" cy="2148840"/>
          </a:xfrm>
          <a:prstGeom prst="roundRect">
            <a:avLst>
              <a:gd name="adj" fmla="val 5957"/>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7" name="Shape 13"/>
          <p:cNvSpPr/>
          <p:nvPr/>
        </p:nvSpPr>
        <p:spPr>
          <a:xfrm>
            <a:off x="3602736" y="3456432"/>
            <a:ext cx="731520" cy="731520"/>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18" name="Image 2" descr="The handbook">    </p:cNvPr>
          <p:cNvPicPr>
            <a:picLocks noChangeAspect="1"/>
          </p:cNvPicPr>
          <p:nvPr/>
        </p:nvPicPr>
        <p:blipFill>
          <a:blip r:embed="rId3"/>
          <a:stretch>
            <a:fillRect/>
          </a:stretch>
        </p:blipFill>
        <p:spPr>
          <a:xfrm>
            <a:off x="3767328" y="3621024"/>
            <a:ext cx="402336" cy="402336"/>
          </a:xfrm>
          <a:prstGeom prst="rect">
            <a:avLst/>
          </a:prstGeom>
        </p:spPr>
      </p:pic>
      <p:sp>
        <p:nvSpPr>
          <p:cNvPr id="19" name="Shape 14"/>
          <p:cNvSpPr/>
          <p:nvPr/>
        </p:nvSpPr>
        <p:spPr>
          <a:xfrm>
            <a:off x="4919472" y="3493008"/>
            <a:ext cx="868680" cy="292608"/>
          </a:xfrm>
          <a:prstGeom prst="roundRect">
            <a:avLst>
              <a:gd name="adj" fmla="val 50000"/>
            </a:avLst>
          </a:prstGeom>
          <a:solidFill>
            <a:srgbClr val="F2C46D">
              <a:alpha val="12000"/>
            </a:srgbClr>
          </a:solidFill>
          <a:ln w="9525">
            <a:solidFill>
              <a:srgbClr val="F2C46D"/>
            </a:solidFill>
            <a:prstDash val="solid"/>
          </a:ln>
        </p:spPr>
      </p:sp>
      <p:sp>
        <p:nvSpPr>
          <p:cNvPr id="20" name="Text 15"/>
          <p:cNvSpPr txBox="1"/>
          <p:nvPr/>
        </p:nvSpPr>
        <p:spPr>
          <a:xfrm>
            <a:off x="4919472" y="3493008"/>
            <a:ext cx="868680" cy="292608"/>
          </a:xfrm>
          <a:prstGeom prst="rect">
            <a:avLst/>
          </a:prstGeom>
          <a:noFill/>
          <a:ln/>
        </p:spPr>
        <p:txBody>
          <a:bodyPr wrap="square" lIns="0" tIns="0" rIns="0" bIns="0" rtlCol="0" anchor="ctr"/>
          <a:lstStyle/>
          <a:p>
            <a:pPr algn="ctr" indent="0" marL="0">
              <a:buNone/>
            </a:pPr>
            <a:r>
              <a:rPr lang="en-US" sz="900" b="1" spc="150" kern="0" dirty="0">
                <a:solidFill>
                  <a:srgbClr val="F2C46D"/>
                </a:solidFill>
                <a:latin typeface="Calibri" pitchFamily="34" charset="0"/>
                <a:ea typeface="Calibri" pitchFamily="34" charset="-122"/>
                <a:cs typeface="Calibri" pitchFamily="34" charset="-120"/>
              </a:rPr>
              <a:t>40 PAGES</a:t>
            </a:r>
            <a:endParaRPr lang="en-US" sz="900" dirty="0"/>
          </a:p>
        </p:txBody>
      </p:sp>
      <p:sp>
        <p:nvSpPr>
          <p:cNvPr id="21" name="Text 16"/>
          <p:cNvSpPr txBox="1"/>
          <p:nvPr/>
        </p:nvSpPr>
        <p:spPr>
          <a:xfrm>
            <a:off x="3602736" y="4389120"/>
            <a:ext cx="2157984" cy="365760"/>
          </a:xfrm>
          <a:prstGeom prst="rect">
            <a:avLst/>
          </a:prstGeom>
          <a:noFill/>
          <a:ln/>
        </p:spPr>
        <p:txBody>
          <a:bodyPr wrap="square" lIns="0" tIns="0" rIns="0" bIns="0" rtlCol="0" anchor="ctr"/>
          <a:lstStyle/>
          <a:p>
            <a:pPr indent="0" marL="0">
              <a:buNone/>
            </a:pPr>
            <a:r>
              <a:rPr lang="en-US" sz="2000" b="1" dirty="0">
                <a:solidFill>
                  <a:srgbClr val="F4F8FC"/>
                </a:solidFill>
                <a:latin typeface="Calibri" pitchFamily="34" charset="0"/>
                <a:ea typeface="Calibri" pitchFamily="34" charset="-122"/>
                <a:cs typeface="Calibri" pitchFamily="34" charset="-120"/>
              </a:rPr>
              <a:t>The handbook</a:t>
            </a:r>
            <a:endParaRPr lang="en-US" sz="2000" dirty="0"/>
          </a:p>
        </p:txBody>
      </p:sp>
      <p:sp>
        <p:nvSpPr>
          <p:cNvPr id="22" name="Text 17"/>
          <p:cNvSpPr txBox="1"/>
          <p:nvPr/>
        </p:nvSpPr>
        <p:spPr>
          <a:xfrm>
            <a:off x="3602736" y="4754880"/>
            <a:ext cx="2157984" cy="457200"/>
          </a:xfrm>
          <a:prstGeom prst="rect">
            <a:avLst/>
          </a:prstGeom>
          <a:noFill/>
          <a:ln/>
        </p:spPr>
        <p:txBody>
          <a:bodyPr wrap="square" lIns="0" tIns="0" rIns="0" bIns="0" rtlCol="0" anchor="t"/>
          <a:lstStyle/>
          <a:p>
            <a:pPr indent="0" marL="0">
              <a:buNone/>
            </a:pPr>
            <a:r>
              <a:rPr lang="en-US" sz="1400" dirty="0">
                <a:solidFill>
                  <a:srgbClr val="A3B5C9"/>
                </a:solidFill>
                <a:latin typeface="Calibri" pitchFamily="34" charset="0"/>
                <a:ea typeface="Calibri" pitchFamily="34" charset="-122"/>
                <a:cs typeface="Calibri" pitchFamily="34" charset="-120"/>
              </a:rPr>
              <a:t>the rules, somewhere inside</a:t>
            </a:r>
            <a:endParaRPr lang="en-US" sz="1400" dirty="0"/>
          </a:p>
        </p:txBody>
      </p:sp>
      <p:sp>
        <p:nvSpPr>
          <p:cNvPr id="23" name="Shape 18"/>
          <p:cNvSpPr/>
          <p:nvPr/>
        </p:nvSpPr>
        <p:spPr>
          <a:xfrm>
            <a:off x="6199632" y="3200400"/>
            <a:ext cx="2615184" cy="2148840"/>
          </a:xfrm>
          <a:prstGeom prst="roundRect">
            <a:avLst>
              <a:gd name="adj" fmla="val 5957"/>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24" name="Shape 19"/>
          <p:cNvSpPr/>
          <p:nvPr/>
        </p:nvSpPr>
        <p:spPr>
          <a:xfrm>
            <a:off x="6428232" y="3456432"/>
            <a:ext cx="731520" cy="731520"/>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25" name="Image 3" descr="Task board">    </p:cNvPr>
          <p:cNvPicPr>
            <a:picLocks noChangeAspect="1"/>
          </p:cNvPicPr>
          <p:nvPr/>
        </p:nvPicPr>
        <p:blipFill>
          <a:blip r:embed="rId4"/>
          <a:stretch>
            <a:fillRect/>
          </a:stretch>
        </p:blipFill>
        <p:spPr>
          <a:xfrm>
            <a:off x="6592824" y="3621024"/>
            <a:ext cx="402336" cy="402336"/>
          </a:xfrm>
          <a:prstGeom prst="rect">
            <a:avLst/>
          </a:prstGeom>
        </p:spPr>
      </p:pic>
      <p:sp>
        <p:nvSpPr>
          <p:cNvPr id="26" name="Shape 20"/>
          <p:cNvSpPr/>
          <p:nvPr/>
        </p:nvSpPr>
        <p:spPr>
          <a:xfrm>
            <a:off x="7744968" y="3493008"/>
            <a:ext cx="868680" cy="292608"/>
          </a:xfrm>
          <a:prstGeom prst="roundRect">
            <a:avLst>
              <a:gd name="adj" fmla="val 50000"/>
            </a:avLst>
          </a:prstGeom>
          <a:solidFill>
            <a:srgbClr val="F2C46D">
              <a:alpha val="12000"/>
            </a:srgbClr>
          </a:solidFill>
          <a:ln w="9525">
            <a:solidFill>
              <a:srgbClr val="F2C46D"/>
            </a:solidFill>
            <a:prstDash val="solid"/>
          </a:ln>
        </p:spPr>
      </p:sp>
      <p:sp>
        <p:nvSpPr>
          <p:cNvPr id="27" name="Text 21"/>
          <p:cNvSpPr txBox="1"/>
          <p:nvPr/>
        </p:nvSpPr>
        <p:spPr>
          <a:xfrm>
            <a:off x="7744968" y="3493008"/>
            <a:ext cx="868680" cy="292608"/>
          </a:xfrm>
          <a:prstGeom prst="rect">
            <a:avLst/>
          </a:prstGeom>
          <a:noFill/>
          <a:ln/>
        </p:spPr>
        <p:txBody>
          <a:bodyPr wrap="square" lIns="0" tIns="0" rIns="0" bIns="0" rtlCol="0" anchor="ctr"/>
          <a:lstStyle/>
          <a:p>
            <a:pPr algn="ctr" indent="0" marL="0">
              <a:buNone/>
            </a:pPr>
            <a:r>
              <a:rPr lang="en-US" sz="900" b="1" spc="150" kern="0" dirty="0">
                <a:solidFill>
                  <a:srgbClr val="F2C46D"/>
                </a:solidFill>
                <a:latin typeface="Calibri" pitchFamily="34" charset="0"/>
                <a:ea typeface="Calibri" pitchFamily="34" charset="-122"/>
                <a:cs typeface="Calibri" pitchFamily="34" charset="-120"/>
              </a:rPr>
              <a:t>LOGIN 2</a:t>
            </a:r>
            <a:endParaRPr lang="en-US" sz="900" dirty="0"/>
          </a:p>
        </p:txBody>
      </p:sp>
      <p:sp>
        <p:nvSpPr>
          <p:cNvPr id="28" name="Text 22"/>
          <p:cNvSpPr txBox="1"/>
          <p:nvPr/>
        </p:nvSpPr>
        <p:spPr>
          <a:xfrm>
            <a:off x="6428232" y="4389120"/>
            <a:ext cx="2157984" cy="365760"/>
          </a:xfrm>
          <a:prstGeom prst="rect">
            <a:avLst/>
          </a:prstGeom>
          <a:noFill/>
          <a:ln/>
        </p:spPr>
        <p:txBody>
          <a:bodyPr wrap="square" lIns="0" tIns="0" rIns="0" bIns="0" rtlCol="0" anchor="ctr"/>
          <a:lstStyle/>
          <a:p>
            <a:pPr indent="0" marL="0">
              <a:buNone/>
            </a:pPr>
            <a:r>
              <a:rPr lang="en-US" sz="2000" b="1" dirty="0">
                <a:solidFill>
                  <a:srgbClr val="F4F8FC"/>
                </a:solidFill>
                <a:latin typeface="Calibri" pitchFamily="34" charset="0"/>
                <a:ea typeface="Calibri" pitchFamily="34" charset="-122"/>
                <a:cs typeface="Calibri" pitchFamily="34" charset="-120"/>
              </a:rPr>
              <a:t>Task board</a:t>
            </a:r>
            <a:endParaRPr lang="en-US" sz="2000" dirty="0"/>
          </a:p>
        </p:txBody>
      </p:sp>
      <p:sp>
        <p:nvSpPr>
          <p:cNvPr id="29" name="Text 23"/>
          <p:cNvSpPr txBox="1"/>
          <p:nvPr/>
        </p:nvSpPr>
        <p:spPr>
          <a:xfrm>
            <a:off x="6428232" y="4754880"/>
            <a:ext cx="2157984" cy="457200"/>
          </a:xfrm>
          <a:prstGeom prst="rect">
            <a:avLst/>
          </a:prstGeom>
          <a:noFill/>
          <a:ln/>
        </p:spPr>
        <p:txBody>
          <a:bodyPr wrap="square" lIns="0" tIns="0" rIns="0" bIns="0" rtlCol="0" anchor="t"/>
          <a:lstStyle/>
          <a:p>
            <a:pPr indent="0" marL="0">
              <a:buNone/>
            </a:pPr>
            <a:r>
              <a:rPr lang="en-US" sz="1400" dirty="0">
                <a:solidFill>
                  <a:srgbClr val="A3B5C9"/>
                </a:solidFill>
                <a:latin typeface="Calibri" pitchFamily="34" charset="0"/>
                <a:ea typeface="Calibri" pitchFamily="34" charset="-122"/>
                <a:cs typeface="Calibri" pitchFamily="34" charset="-120"/>
              </a:rPr>
              <a:t>what is due this week</a:t>
            </a:r>
            <a:endParaRPr lang="en-US" sz="1400" dirty="0"/>
          </a:p>
        </p:txBody>
      </p:sp>
      <p:sp>
        <p:nvSpPr>
          <p:cNvPr id="30" name="Shape 24"/>
          <p:cNvSpPr/>
          <p:nvPr/>
        </p:nvSpPr>
        <p:spPr>
          <a:xfrm>
            <a:off x="9025128" y="3200400"/>
            <a:ext cx="2615184" cy="2148840"/>
          </a:xfrm>
          <a:prstGeom prst="roundRect">
            <a:avLst>
              <a:gd name="adj" fmla="val 5957"/>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31" name="Shape 25"/>
          <p:cNvSpPr/>
          <p:nvPr/>
        </p:nvSpPr>
        <p:spPr>
          <a:xfrm>
            <a:off x="9253728" y="3456432"/>
            <a:ext cx="731520" cy="731520"/>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32" name="Image 4" descr="IT portal">    </p:cNvPr>
          <p:cNvPicPr>
            <a:picLocks noChangeAspect="1"/>
          </p:cNvPicPr>
          <p:nvPr/>
        </p:nvPicPr>
        <p:blipFill>
          <a:blip r:embed="rId5"/>
          <a:stretch>
            <a:fillRect/>
          </a:stretch>
        </p:blipFill>
        <p:spPr>
          <a:xfrm>
            <a:off x="9418320" y="3621024"/>
            <a:ext cx="402336" cy="402336"/>
          </a:xfrm>
          <a:prstGeom prst="rect">
            <a:avLst/>
          </a:prstGeom>
        </p:spPr>
      </p:pic>
      <p:sp>
        <p:nvSpPr>
          <p:cNvPr id="33" name="Shape 26"/>
          <p:cNvSpPr/>
          <p:nvPr/>
        </p:nvSpPr>
        <p:spPr>
          <a:xfrm>
            <a:off x="10570464" y="3493008"/>
            <a:ext cx="868680" cy="292608"/>
          </a:xfrm>
          <a:prstGeom prst="roundRect">
            <a:avLst>
              <a:gd name="adj" fmla="val 50000"/>
            </a:avLst>
          </a:prstGeom>
          <a:solidFill>
            <a:srgbClr val="F2C46D">
              <a:alpha val="12000"/>
            </a:srgbClr>
          </a:solidFill>
          <a:ln w="9525">
            <a:solidFill>
              <a:srgbClr val="F2C46D"/>
            </a:solidFill>
            <a:prstDash val="solid"/>
          </a:ln>
        </p:spPr>
      </p:sp>
      <p:sp>
        <p:nvSpPr>
          <p:cNvPr id="34" name="Text 27"/>
          <p:cNvSpPr txBox="1"/>
          <p:nvPr/>
        </p:nvSpPr>
        <p:spPr>
          <a:xfrm>
            <a:off x="10570464" y="3493008"/>
            <a:ext cx="868680" cy="292608"/>
          </a:xfrm>
          <a:prstGeom prst="rect">
            <a:avLst/>
          </a:prstGeom>
          <a:noFill/>
          <a:ln/>
        </p:spPr>
        <p:txBody>
          <a:bodyPr wrap="square" lIns="0" tIns="0" rIns="0" bIns="0" rtlCol="0" anchor="ctr"/>
          <a:lstStyle/>
          <a:p>
            <a:pPr algn="ctr" indent="0" marL="0">
              <a:buNone/>
            </a:pPr>
            <a:r>
              <a:rPr lang="en-US" sz="900" b="1" spc="150" kern="0" dirty="0">
                <a:solidFill>
                  <a:srgbClr val="F2C46D"/>
                </a:solidFill>
                <a:latin typeface="Calibri" pitchFamily="34" charset="0"/>
                <a:ea typeface="Calibri" pitchFamily="34" charset="-122"/>
                <a:cs typeface="Calibri" pitchFamily="34" charset="-120"/>
              </a:rPr>
              <a:t>LOGIN 3</a:t>
            </a:r>
            <a:endParaRPr lang="en-US" sz="900" dirty="0"/>
          </a:p>
        </p:txBody>
      </p:sp>
      <p:sp>
        <p:nvSpPr>
          <p:cNvPr id="35" name="Text 28"/>
          <p:cNvSpPr txBox="1"/>
          <p:nvPr/>
        </p:nvSpPr>
        <p:spPr>
          <a:xfrm>
            <a:off x="9253728" y="4389120"/>
            <a:ext cx="2157984" cy="365760"/>
          </a:xfrm>
          <a:prstGeom prst="rect">
            <a:avLst/>
          </a:prstGeom>
          <a:noFill/>
          <a:ln/>
        </p:spPr>
        <p:txBody>
          <a:bodyPr wrap="square" lIns="0" tIns="0" rIns="0" bIns="0" rtlCol="0" anchor="ctr"/>
          <a:lstStyle/>
          <a:p>
            <a:pPr indent="0" marL="0">
              <a:buNone/>
            </a:pPr>
            <a:r>
              <a:rPr lang="en-US" sz="2000" b="1" dirty="0">
                <a:solidFill>
                  <a:srgbClr val="F4F8FC"/>
                </a:solidFill>
                <a:latin typeface="Calibri" pitchFamily="34" charset="0"/>
                <a:ea typeface="Calibri" pitchFamily="34" charset="-122"/>
                <a:cs typeface="Calibri" pitchFamily="34" charset="-120"/>
              </a:rPr>
              <a:t>IT portal</a:t>
            </a:r>
            <a:endParaRPr lang="en-US" sz="2000" dirty="0"/>
          </a:p>
        </p:txBody>
      </p:sp>
      <p:sp>
        <p:nvSpPr>
          <p:cNvPr id="36" name="Text 29"/>
          <p:cNvSpPr txBox="1"/>
          <p:nvPr/>
        </p:nvSpPr>
        <p:spPr>
          <a:xfrm>
            <a:off x="9253728" y="4754880"/>
            <a:ext cx="2157984" cy="457200"/>
          </a:xfrm>
          <a:prstGeom prst="rect">
            <a:avLst/>
          </a:prstGeom>
          <a:noFill/>
          <a:ln/>
        </p:spPr>
        <p:txBody>
          <a:bodyPr wrap="square" lIns="0" tIns="0" rIns="0" bIns="0" rtlCol="0" anchor="t"/>
          <a:lstStyle/>
          <a:p>
            <a:pPr indent="0" marL="0">
              <a:buNone/>
            </a:pPr>
            <a:r>
              <a:rPr lang="en-US" sz="1400" dirty="0">
                <a:solidFill>
                  <a:srgbClr val="A3B5C9"/>
                </a:solidFill>
                <a:latin typeface="Calibri" pitchFamily="34" charset="0"/>
                <a:ea typeface="Calibri" pitchFamily="34" charset="-122"/>
                <a:cs typeface="Calibri" pitchFamily="34" charset="-120"/>
              </a:rPr>
              <a:t>the access you are still waiting for</a:t>
            </a:r>
            <a:endParaRPr lang="en-US" sz="1400" dirty="0"/>
          </a:p>
        </p:txBody>
      </p:sp>
      <p:sp>
        <p:nvSpPr>
          <p:cNvPr id="37" name="Text 30"/>
          <p:cNvSpPr txBox="1"/>
          <p:nvPr/>
        </p:nvSpPr>
        <p:spPr>
          <a:xfrm>
            <a:off x="548640" y="5577840"/>
            <a:ext cx="11091672" cy="502920"/>
          </a:xfrm>
          <a:prstGeom prst="rect">
            <a:avLst/>
          </a:prstGeom>
          <a:noFill/>
          <a:ln/>
        </p:spPr>
        <p:txBody>
          <a:bodyPr wrap="square" lIns="0" tIns="0" rIns="0" bIns="0" rtlCol="0" anchor="ctr"/>
          <a:lstStyle/>
          <a:p>
            <a:pPr algn="ctr" indent="0" marL="0">
              <a:buNone/>
            </a:pPr>
            <a:r>
              <a:rPr lang="en-US" sz="2600" i="1" dirty="0">
                <a:solidFill>
                  <a:srgbClr val="5CE6B0"/>
                </a:solidFill>
                <a:latin typeface="Calibri" pitchFamily="34" charset="0"/>
                <a:ea typeface="Calibri" pitchFamily="34" charset="-122"/>
                <a:cs typeface="Calibri" pitchFamily="34" charset="-120"/>
              </a:rPr>
              <a:t>The answers exist. Nobody has the map.</a:t>
            </a:r>
            <a:endParaRPr lang="en-US" sz="2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097280" y="384048"/>
            <a:ext cx="10607040" cy="685800"/>
          </a:xfrm>
          <a:prstGeom prst="rect">
            <a:avLst/>
          </a:prstGeom>
          <a:noFill/>
          <a:ln/>
        </p:spPr>
        <p:txBody>
          <a:bodyPr wrap="square" lIns="0" tIns="0" rIns="0" bIns="0" rtlCol="0" anchor="ctr"/>
          <a:lstStyle/>
          <a:p>
            <a:pPr algn="l" indent="0" marL="0">
              <a:buNone/>
            </a:pPr>
            <a:r>
              <a:rPr lang="en-US" sz="3200" b="1" dirty="0">
                <a:solidFill>
                  <a:srgbClr val="F4F8FC"/>
                </a:solidFill>
                <a:latin typeface="Calibri" pitchFamily="34" charset="0"/>
                <a:ea typeface="Calibri" pitchFamily="34" charset="-122"/>
                <a:cs typeface="Calibri" pitchFamily="34" charset="-120"/>
              </a:rPr>
              <a:t>North Star: ask once, get one answer</a:t>
            </a:r>
            <a:endParaRPr lang="en-US" sz="3200" dirty="0"/>
          </a:p>
        </p:txBody>
      </p:sp>
      <p:sp>
        <p:nvSpPr>
          <p:cNvPr id="3" name="Text 1"/>
          <p:cNvSpPr txBox="1"/>
          <p:nvPr/>
        </p:nvSpPr>
        <p:spPr>
          <a:xfrm>
            <a:off x="548640" y="1371600"/>
            <a:ext cx="5029200" cy="1417320"/>
          </a:xfrm>
          <a:prstGeom prst="rect">
            <a:avLst/>
          </a:prstGeom>
          <a:noFill/>
          <a:ln/>
        </p:spPr>
        <p:txBody>
          <a:bodyPr wrap="square" lIns="0" tIns="0" rIns="0" bIns="0" rtlCol="0" anchor="t"/>
          <a:lstStyle/>
          <a:p>
            <a:pPr indent="0" marL="0">
              <a:lnSpc>
                <a:spcPct val="105000"/>
              </a:lnSpc>
              <a:buNone/>
            </a:pPr>
            <a:r>
              <a:rPr lang="en-US" sz="1800" dirty="0">
                <a:solidFill>
                  <a:srgbClr val="DCE6F0"/>
                </a:solidFill>
                <a:latin typeface="Calibri" pitchFamily="34" charset="0"/>
                <a:ea typeface="Calibri" pitchFamily="34" charset="-122"/>
                <a:cs typeface="Calibri" pitchFamily="34" charset="-120"/>
              </a:rPr>
              <a:t>A coordinator agent reads your question and hands it to the right specialists. They check your records and the handbook, then come back with one answer and show their work.</a:t>
            </a:r>
            <a:endParaRPr lang="en-US" sz="1800" dirty="0"/>
          </a:p>
        </p:txBody>
      </p:sp>
      <p:sp>
        <p:nvSpPr>
          <p:cNvPr id="4" name="Shape 2"/>
          <p:cNvSpPr/>
          <p:nvPr/>
        </p:nvSpPr>
        <p:spPr>
          <a:xfrm flipV="1">
            <a:off x="2221992" y="3429000"/>
            <a:ext cx="841248" cy="708660"/>
          </a:xfrm>
          <a:prstGeom prst="line">
            <a:avLst/>
          </a:prstGeom>
          <a:noFill/>
          <a:ln w="15875">
            <a:solidFill>
              <a:srgbClr val="5CE6B0">
                <a:alpha val="80000"/>
              </a:srgbClr>
            </a:solidFill>
            <a:prstDash val="solid"/>
          </a:ln>
        </p:spPr>
      </p:sp>
      <p:sp>
        <p:nvSpPr>
          <p:cNvPr id="5" name="Shape 3"/>
          <p:cNvSpPr/>
          <p:nvPr/>
        </p:nvSpPr>
        <p:spPr>
          <a:xfrm>
            <a:off x="2221992" y="4137660"/>
            <a:ext cx="841248" cy="86868"/>
          </a:xfrm>
          <a:prstGeom prst="line">
            <a:avLst/>
          </a:prstGeom>
          <a:noFill/>
          <a:ln w="15875">
            <a:solidFill>
              <a:srgbClr val="5CE6B0">
                <a:alpha val="80000"/>
              </a:srgbClr>
            </a:solidFill>
            <a:prstDash val="solid"/>
          </a:ln>
        </p:spPr>
      </p:sp>
      <p:sp>
        <p:nvSpPr>
          <p:cNvPr id="6" name="Shape 4"/>
          <p:cNvSpPr/>
          <p:nvPr/>
        </p:nvSpPr>
        <p:spPr>
          <a:xfrm>
            <a:off x="2221992" y="4137660"/>
            <a:ext cx="841248" cy="882396"/>
          </a:xfrm>
          <a:prstGeom prst="line">
            <a:avLst/>
          </a:prstGeom>
          <a:noFill/>
          <a:ln w="15875">
            <a:solidFill>
              <a:srgbClr val="5CE6B0">
                <a:alpha val="80000"/>
              </a:srgbClr>
            </a:solidFill>
            <a:prstDash val="solid"/>
          </a:ln>
        </p:spPr>
      </p:sp>
      <p:sp>
        <p:nvSpPr>
          <p:cNvPr id="7" name="Shape 5"/>
          <p:cNvSpPr/>
          <p:nvPr/>
        </p:nvSpPr>
        <p:spPr>
          <a:xfrm>
            <a:off x="640080" y="3291840"/>
            <a:ext cx="1691640" cy="1691640"/>
          </a:xfrm>
          <a:prstGeom prst="ellipse">
            <a:avLst/>
          </a:prstGeom>
          <a:solidFill>
            <a:srgbClr val="5CE6B0">
              <a:alpha val="18000"/>
            </a:srgbClr>
          </a:solidFill>
          <a:ln w="22225">
            <a:solidFill>
              <a:srgbClr val="5CE6B0"/>
            </a:solidFill>
            <a:prstDash val="solid"/>
          </a:ln>
          <a:effectLst>
            <a:outerShdw sx="100000" sy="100000" kx="0" ky="0" algn="bl" rotWithShape="0" blurRad="279400" dist="50800" dir="5400000">
              <a:srgbClr val="5CE6B0">
                <a:alpha val="60000"/>
              </a:srgbClr>
            </a:outerShdw>
          </a:effectLst>
        </p:spPr>
      </p:sp>
      <p:pic>
        <p:nvPicPr>
          <p:cNvPr id="8" name="Image 0" descr="preencoded.png">    </p:cNvPr>
          <p:cNvPicPr>
            <a:picLocks noChangeAspect="1"/>
          </p:cNvPicPr>
          <p:nvPr/>
        </p:nvPicPr>
        <p:blipFill>
          <a:blip r:embed="rId1"/>
          <a:stretch>
            <a:fillRect/>
          </a:stretch>
        </p:blipFill>
        <p:spPr>
          <a:xfrm>
            <a:off x="1257300" y="3639312"/>
            <a:ext cx="457200" cy="457200"/>
          </a:xfrm>
          <a:prstGeom prst="rect">
            <a:avLst/>
          </a:prstGeom>
        </p:spPr>
      </p:pic>
      <p:sp>
        <p:nvSpPr>
          <p:cNvPr id="9" name="Text 6"/>
          <p:cNvSpPr txBox="1"/>
          <p:nvPr/>
        </p:nvSpPr>
        <p:spPr>
          <a:xfrm>
            <a:off x="640080" y="4160520"/>
            <a:ext cx="1691640" cy="365760"/>
          </a:xfrm>
          <a:prstGeom prst="rect">
            <a:avLst/>
          </a:prstGeom>
          <a:noFill/>
          <a:ln/>
        </p:spPr>
        <p:txBody>
          <a:bodyPr wrap="square" lIns="0" tIns="0" rIns="0" bIns="0" rtlCol="0" anchor="ctr"/>
          <a:lstStyle/>
          <a:p>
            <a:pPr algn="ctr" indent="0" marL="0">
              <a:buNone/>
            </a:pPr>
            <a:r>
              <a:rPr lang="en-US" sz="1600" b="1" dirty="0">
                <a:solidFill>
                  <a:srgbClr val="F4F8FC"/>
                </a:solidFill>
                <a:latin typeface="Calibri" pitchFamily="34" charset="0"/>
                <a:ea typeface="Calibri" pitchFamily="34" charset="-122"/>
                <a:cs typeface="Calibri" pitchFamily="34" charset="-120"/>
              </a:rPr>
              <a:t>Coordinator</a:t>
            </a:r>
            <a:endParaRPr lang="en-US" sz="1600" dirty="0"/>
          </a:p>
        </p:txBody>
      </p:sp>
      <p:sp>
        <p:nvSpPr>
          <p:cNvPr id="10" name="Shape 7"/>
          <p:cNvSpPr/>
          <p:nvPr/>
        </p:nvSpPr>
        <p:spPr>
          <a:xfrm>
            <a:off x="3063240" y="3154680"/>
            <a:ext cx="2423160" cy="548640"/>
          </a:xfrm>
          <a:prstGeom prst="roundRect">
            <a:avLst>
              <a:gd name="adj" fmla="val 50000"/>
            </a:avLst>
          </a:prstGeom>
          <a:solidFill>
            <a:srgbClr val="132842">
              <a:alpha val="95000"/>
            </a:srgbClr>
          </a:solidFill>
          <a:ln w="12700">
            <a:solidFill>
              <a:srgbClr val="5CE6B0"/>
            </a:solidFill>
            <a:prstDash val="solid"/>
          </a:ln>
          <a:effectLst>
            <a:outerShdw sx="100000" sy="100000" kx="0" ky="0" algn="bl" rotWithShape="0" blurRad="127000" dist="38100" dir="5400000">
              <a:srgbClr val="000000">
                <a:alpha val="35000"/>
              </a:srgbClr>
            </a:outerShdw>
          </a:effectLst>
        </p:spPr>
      </p:sp>
      <p:pic>
        <p:nvPicPr>
          <p:cNvPr id="11" name="Image 1" descr="preencoded.png">    </p:cNvPr>
          <p:cNvPicPr>
            <a:picLocks noChangeAspect="1"/>
          </p:cNvPicPr>
          <p:nvPr/>
        </p:nvPicPr>
        <p:blipFill>
          <a:blip r:embed="rId2"/>
          <a:stretch>
            <a:fillRect/>
          </a:stretch>
        </p:blipFill>
        <p:spPr>
          <a:xfrm>
            <a:off x="3246120" y="3291840"/>
            <a:ext cx="274320" cy="274320"/>
          </a:xfrm>
          <a:prstGeom prst="rect">
            <a:avLst/>
          </a:prstGeom>
        </p:spPr>
      </p:pic>
      <p:sp>
        <p:nvSpPr>
          <p:cNvPr id="12" name="Text 8"/>
          <p:cNvSpPr txBox="1"/>
          <p:nvPr/>
        </p:nvSpPr>
        <p:spPr>
          <a:xfrm>
            <a:off x="3630168" y="3154680"/>
            <a:ext cx="1783080" cy="548640"/>
          </a:xfrm>
          <a:prstGeom prst="rect">
            <a:avLst/>
          </a:prstGeom>
          <a:noFill/>
          <a:ln/>
        </p:spPr>
        <p:txBody>
          <a:bodyPr wrap="square" lIns="0" tIns="0" rIns="0" bIns="0" rtlCol="0" anchor="ctr"/>
          <a:lstStyle/>
          <a:p>
            <a:pPr indent="0" marL="0">
              <a:buNone/>
            </a:pPr>
            <a:r>
              <a:rPr lang="en-US" sz="1400" b="1" dirty="0">
                <a:solidFill>
                  <a:srgbClr val="F4F8FC"/>
                </a:solidFill>
                <a:latin typeface="Calibri" pitchFamily="34" charset="0"/>
                <a:ea typeface="Calibri" pitchFamily="34" charset="-122"/>
                <a:cs typeface="Calibri" pitchFamily="34" charset="-120"/>
              </a:rPr>
              <a:t>HR specialist</a:t>
            </a:r>
            <a:endParaRPr lang="en-US" sz="1400" dirty="0"/>
          </a:p>
        </p:txBody>
      </p:sp>
      <p:sp>
        <p:nvSpPr>
          <p:cNvPr id="13" name="Shape 9"/>
          <p:cNvSpPr/>
          <p:nvPr/>
        </p:nvSpPr>
        <p:spPr>
          <a:xfrm>
            <a:off x="3063240" y="3950208"/>
            <a:ext cx="2423160" cy="548640"/>
          </a:xfrm>
          <a:prstGeom prst="roundRect">
            <a:avLst>
              <a:gd name="adj" fmla="val 50000"/>
            </a:avLst>
          </a:prstGeom>
          <a:solidFill>
            <a:srgbClr val="132842">
              <a:alpha val="95000"/>
            </a:srgbClr>
          </a:solidFill>
          <a:ln w="12700">
            <a:solidFill>
              <a:srgbClr val="5CE6B0"/>
            </a:solidFill>
            <a:prstDash val="solid"/>
          </a:ln>
          <a:effectLst>
            <a:outerShdw sx="100000" sy="100000" kx="0" ky="0" algn="bl" rotWithShape="0" blurRad="127000" dist="38100" dir="5400000">
              <a:srgbClr val="000000">
                <a:alpha val="35000"/>
              </a:srgbClr>
            </a:outerShdw>
          </a:effectLst>
        </p:spPr>
      </p:sp>
      <p:pic>
        <p:nvPicPr>
          <p:cNvPr id="14" name="Image 2" descr="preencoded.png">    </p:cNvPr>
          <p:cNvPicPr>
            <a:picLocks noChangeAspect="1"/>
          </p:cNvPicPr>
          <p:nvPr/>
        </p:nvPicPr>
        <p:blipFill>
          <a:blip r:embed="rId3"/>
          <a:stretch>
            <a:fillRect/>
          </a:stretch>
        </p:blipFill>
        <p:spPr>
          <a:xfrm>
            <a:off x="3246120" y="4087368"/>
            <a:ext cx="274320" cy="274320"/>
          </a:xfrm>
          <a:prstGeom prst="rect">
            <a:avLst/>
          </a:prstGeom>
        </p:spPr>
      </p:pic>
      <p:sp>
        <p:nvSpPr>
          <p:cNvPr id="15" name="Text 10"/>
          <p:cNvSpPr txBox="1"/>
          <p:nvPr/>
        </p:nvSpPr>
        <p:spPr>
          <a:xfrm>
            <a:off x="3630168" y="3950208"/>
            <a:ext cx="1783080" cy="548640"/>
          </a:xfrm>
          <a:prstGeom prst="rect">
            <a:avLst/>
          </a:prstGeom>
          <a:noFill/>
          <a:ln/>
        </p:spPr>
        <p:txBody>
          <a:bodyPr wrap="square" lIns="0" tIns="0" rIns="0" bIns="0" rtlCol="0" anchor="ctr"/>
          <a:lstStyle/>
          <a:p>
            <a:pPr indent="0" marL="0">
              <a:buNone/>
            </a:pPr>
            <a:r>
              <a:rPr lang="en-US" sz="1400" b="1" dirty="0">
                <a:solidFill>
                  <a:srgbClr val="F4F8FC"/>
                </a:solidFill>
                <a:latin typeface="Calibri" pitchFamily="34" charset="0"/>
                <a:ea typeface="Calibri" pitchFamily="34" charset="-122"/>
                <a:cs typeface="Calibri" pitchFamily="34" charset="-120"/>
              </a:rPr>
              <a:t>Developer specialist</a:t>
            </a:r>
            <a:endParaRPr lang="en-US" sz="1400" dirty="0"/>
          </a:p>
        </p:txBody>
      </p:sp>
      <p:sp>
        <p:nvSpPr>
          <p:cNvPr id="16" name="Shape 11"/>
          <p:cNvSpPr/>
          <p:nvPr/>
        </p:nvSpPr>
        <p:spPr>
          <a:xfrm>
            <a:off x="3063240" y="4745736"/>
            <a:ext cx="2423160" cy="548640"/>
          </a:xfrm>
          <a:prstGeom prst="roundRect">
            <a:avLst>
              <a:gd name="adj" fmla="val 50000"/>
            </a:avLst>
          </a:prstGeom>
          <a:solidFill>
            <a:srgbClr val="132842">
              <a:alpha val="95000"/>
            </a:srgbClr>
          </a:solidFill>
          <a:ln w="12700">
            <a:solidFill>
              <a:srgbClr val="5CE6B0"/>
            </a:solidFill>
            <a:prstDash val="solid"/>
          </a:ln>
          <a:effectLst>
            <a:outerShdw sx="100000" sy="100000" kx="0" ky="0" algn="bl" rotWithShape="0" blurRad="127000" dist="38100" dir="5400000">
              <a:srgbClr val="000000">
                <a:alpha val="35000"/>
              </a:srgbClr>
            </a:outerShdw>
          </a:effectLst>
        </p:spPr>
      </p:sp>
      <p:pic>
        <p:nvPicPr>
          <p:cNvPr id="17" name="Image 3" descr="preencoded.png">    </p:cNvPr>
          <p:cNvPicPr>
            <a:picLocks noChangeAspect="1"/>
          </p:cNvPicPr>
          <p:nvPr/>
        </p:nvPicPr>
        <p:blipFill>
          <a:blip r:embed="rId4"/>
          <a:stretch>
            <a:fillRect/>
          </a:stretch>
        </p:blipFill>
        <p:spPr>
          <a:xfrm>
            <a:off x="3246120" y="4882896"/>
            <a:ext cx="274320" cy="274320"/>
          </a:xfrm>
          <a:prstGeom prst="rect">
            <a:avLst/>
          </a:prstGeom>
        </p:spPr>
      </p:pic>
      <p:sp>
        <p:nvSpPr>
          <p:cNvPr id="18" name="Text 12"/>
          <p:cNvSpPr txBox="1"/>
          <p:nvPr/>
        </p:nvSpPr>
        <p:spPr>
          <a:xfrm>
            <a:off x="3630168" y="4745736"/>
            <a:ext cx="1783080" cy="548640"/>
          </a:xfrm>
          <a:prstGeom prst="rect">
            <a:avLst/>
          </a:prstGeom>
          <a:noFill/>
          <a:ln/>
        </p:spPr>
        <p:txBody>
          <a:bodyPr wrap="square" lIns="0" tIns="0" rIns="0" bIns="0" rtlCol="0" anchor="ctr"/>
          <a:lstStyle/>
          <a:p>
            <a:pPr indent="0" marL="0">
              <a:buNone/>
            </a:pPr>
            <a:r>
              <a:rPr lang="en-US" sz="1400" b="1" dirty="0">
                <a:solidFill>
                  <a:srgbClr val="F4F8FC"/>
                </a:solidFill>
                <a:latin typeface="Calibri" pitchFamily="34" charset="0"/>
                <a:ea typeface="Calibri" pitchFamily="34" charset="-122"/>
                <a:cs typeface="Calibri" pitchFamily="34" charset="-120"/>
              </a:rPr>
              <a:t>IT specialist</a:t>
            </a:r>
            <a:endParaRPr lang="en-US" sz="1400" dirty="0"/>
          </a:p>
        </p:txBody>
      </p:sp>
      <p:sp>
        <p:nvSpPr>
          <p:cNvPr id="19" name="Text 13"/>
          <p:cNvSpPr txBox="1"/>
          <p:nvPr/>
        </p:nvSpPr>
        <p:spPr>
          <a:xfrm>
            <a:off x="548640" y="5623560"/>
            <a:ext cx="5120640" cy="457200"/>
          </a:xfrm>
          <a:prstGeom prst="rect">
            <a:avLst/>
          </a:prstGeom>
          <a:noFill/>
          <a:ln/>
        </p:spPr>
        <p:txBody>
          <a:bodyPr wrap="square" lIns="0" tIns="0" rIns="0" bIns="0" rtlCol="0" anchor="t"/>
          <a:lstStyle/>
          <a:p>
            <a:pPr indent="0" marL="0">
              <a:buNone/>
            </a:pPr>
            <a:r>
              <a:rPr lang="en-US" sz="1200" i="1" dirty="0">
                <a:solidFill>
                  <a:srgbClr val="A3B5C9"/>
                </a:solidFill>
                <a:latin typeface="Calibri" pitchFamily="34" charset="0"/>
                <a:ea typeface="Calibri" pitchFamily="34" charset="-122"/>
                <a:cs typeface="Calibri" pitchFamily="34" charset="-120"/>
              </a:rPr>
              <a:t>Built with Strands Agents and Amazon Nova 2 Lite on Amazon Bedrock</a:t>
            </a:r>
            <a:endParaRPr lang="en-US" sz="1200" dirty="0"/>
          </a:p>
        </p:txBody>
      </p:sp>
      <p:sp>
        <p:nvSpPr>
          <p:cNvPr id="20" name="Shape 14"/>
          <p:cNvSpPr/>
          <p:nvPr/>
        </p:nvSpPr>
        <p:spPr>
          <a:xfrm>
            <a:off x="6035040" y="1371600"/>
            <a:ext cx="2697480" cy="2212848"/>
          </a:xfrm>
          <a:prstGeom prst="roundRect">
            <a:avLst>
              <a:gd name="adj" fmla="val 5785"/>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21" name="Text 15"/>
          <p:cNvSpPr txBox="1"/>
          <p:nvPr/>
        </p:nvSpPr>
        <p:spPr>
          <a:xfrm>
            <a:off x="6291072" y="1554480"/>
            <a:ext cx="731520" cy="685800"/>
          </a:xfrm>
          <a:prstGeom prst="rect">
            <a:avLst/>
          </a:prstGeom>
          <a:noFill/>
          <a:ln/>
        </p:spPr>
        <p:txBody>
          <a:bodyPr wrap="square" lIns="0" tIns="0" rIns="0" bIns="0" rtlCol="0" anchor="ctr"/>
          <a:lstStyle/>
          <a:p>
            <a:pPr indent="0" marL="0">
              <a:buNone/>
            </a:pPr>
            <a:r>
              <a:rPr lang="en-US" sz="4400" b="1" dirty="0">
                <a:solidFill>
                  <a:srgbClr val="5CE6B0"/>
                </a:solidFill>
                <a:latin typeface="Calibri" pitchFamily="34" charset="0"/>
                <a:ea typeface="Calibri" pitchFamily="34" charset="-122"/>
                <a:cs typeface="Calibri" pitchFamily="34" charset="-120"/>
              </a:rPr>
              <a:t>1</a:t>
            </a:r>
            <a:endParaRPr lang="en-US" sz="4400" dirty="0"/>
          </a:p>
        </p:txBody>
      </p:sp>
      <p:sp>
        <p:nvSpPr>
          <p:cNvPr id="22" name="Shape 16"/>
          <p:cNvSpPr/>
          <p:nvPr/>
        </p:nvSpPr>
        <p:spPr>
          <a:xfrm>
            <a:off x="7955280" y="1627632"/>
            <a:ext cx="530352" cy="530352"/>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23" name="Image 4" descr="preencoded.png">    </p:cNvPr>
          <p:cNvPicPr>
            <a:picLocks noChangeAspect="1"/>
          </p:cNvPicPr>
          <p:nvPr/>
        </p:nvPicPr>
        <p:blipFill>
          <a:blip r:embed="rId5"/>
          <a:stretch>
            <a:fillRect/>
          </a:stretch>
        </p:blipFill>
        <p:spPr>
          <a:xfrm>
            <a:off x="8093172" y="1765524"/>
            <a:ext cx="254569" cy="254569"/>
          </a:xfrm>
          <a:prstGeom prst="rect">
            <a:avLst/>
          </a:prstGeom>
        </p:spPr>
      </p:pic>
      <p:sp>
        <p:nvSpPr>
          <p:cNvPr id="24" name="Text 17"/>
          <p:cNvSpPr txBox="1"/>
          <p:nvPr/>
        </p:nvSpPr>
        <p:spPr>
          <a:xfrm>
            <a:off x="6291072" y="2331720"/>
            <a:ext cx="2240280" cy="594360"/>
          </a:xfrm>
          <a:prstGeom prst="rect">
            <a:avLst/>
          </a:prstGeom>
          <a:noFill/>
          <a:ln/>
        </p:spPr>
        <p:txBody>
          <a:bodyPr wrap="square" lIns="0" tIns="0" rIns="0" bIns="0" rtlCol="0" anchor="t"/>
          <a:lstStyle/>
          <a:p>
            <a:pPr indent="0" marL="0">
              <a:buNone/>
            </a:pPr>
            <a:r>
              <a:rPr lang="en-US" sz="1700" b="1" dirty="0">
                <a:solidFill>
                  <a:srgbClr val="F4F8FC"/>
                </a:solidFill>
                <a:latin typeface="Calibri" pitchFamily="34" charset="0"/>
                <a:ea typeface="Calibri" pitchFamily="34" charset="-122"/>
                <a:cs typeface="Calibri" pitchFamily="34" charset="-120"/>
              </a:rPr>
              <a:t>The model never does the maths</a:t>
            </a:r>
            <a:endParaRPr lang="en-US" sz="1700" dirty="0"/>
          </a:p>
        </p:txBody>
      </p:sp>
      <p:sp>
        <p:nvSpPr>
          <p:cNvPr id="25" name="Text 18"/>
          <p:cNvSpPr txBox="1"/>
          <p:nvPr/>
        </p:nvSpPr>
        <p:spPr>
          <a:xfrm>
            <a:off x="6291072" y="2926080"/>
            <a:ext cx="2240280" cy="548640"/>
          </a:xfrm>
          <a:prstGeom prst="rect">
            <a:avLst/>
          </a:prstGeom>
          <a:noFill/>
          <a:ln/>
        </p:spPr>
        <p:txBody>
          <a:bodyPr wrap="square" lIns="0" tIns="0" rIns="0" bIns="0" rtlCol="0" anchor="t"/>
          <a:lstStyle/>
          <a:p>
            <a:pPr indent="0" marL="0">
              <a:buNone/>
            </a:pPr>
            <a:r>
              <a:rPr lang="en-US" sz="1300" dirty="0">
                <a:solidFill>
                  <a:srgbClr val="A3B5C9"/>
                </a:solidFill>
                <a:latin typeface="Calibri" pitchFamily="34" charset="0"/>
                <a:ea typeface="Calibri" pitchFamily="34" charset="-122"/>
                <a:cs typeface="Calibri" pitchFamily="34" charset="-120"/>
              </a:rPr>
              <a:t>Totals are added up in code, to the cent.</a:t>
            </a:r>
            <a:endParaRPr lang="en-US" sz="1300" dirty="0"/>
          </a:p>
        </p:txBody>
      </p:sp>
      <p:sp>
        <p:nvSpPr>
          <p:cNvPr id="26" name="Shape 19"/>
          <p:cNvSpPr/>
          <p:nvPr/>
        </p:nvSpPr>
        <p:spPr>
          <a:xfrm>
            <a:off x="8942832" y="1371600"/>
            <a:ext cx="2697480" cy="2212848"/>
          </a:xfrm>
          <a:prstGeom prst="roundRect">
            <a:avLst>
              <a:gd name="adj" fmla="val 5785"/>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27" name="Text 20"/>
          <p:cNvSpPr txBox="1"/>
          <p:nvPr/>
        </p:nvSpPr>
        <p:spPr>
          <a:xfrm>
            <a:off x="9198864" y="1554480"/>
            <a:ext cx="731520" cy="685800"/>
          </a:xfrm>
          <a:prstGeom prst="rect">
            <a:avLst/>
          </a:prstGeom>
          <a:noFill/>
          <a:ln/>
        </p:spPr>
        <p:txBody>
          <a:bodyPr wrap="square" lIns="0" tIns="0" rIns="0" bIns="0" rtlCol="0" anchor="ctr"/>
          <a:lstStyle/>
          <a:p>
            <a:pPr indent="0" marL="0">
              <a:buNone/>
            </a:pPr>
            <a:r>
              <a:rPr lang="en-US" sz="4400" b="1" dirty="0">
                <a:solidFill>
                  <a:srgbClr val="5CE6B0"/>
                </a:solidFill>
                <a:latin typeface="Calibri" pitchFamily="34" charset="0"/>
                <a:ea typeface="Calibri" pitchFamily="34" charset="-122"/>
                <a:cs typeface="Calibri" pitchFamily="34" charset="-120"/>
              </a:rPr>
              <a:t>2</a:t>
            </a:r>
            <a:endParaRPr lang="en-US" sz="4400" dirty="0"/>
          </a:p>
        </p:txBody>
      </p:sp>
      <p:sp>
        <p:nvSpPr>
          <p:cNvPr id="28" name="Shape 21"/>
          <p:cNvSpPr/>
          <p:nvPr/>
        </p:nvSpPr>
        <p:spPr>
          <a:xfrm>
            <a:off x="10863072" y="1627632"/>
            <a:ext cx="530352" cy="530352"/>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29" name="Image 5" descr="preencoded.png">    </p:cNvPr>
          <p:cNvPicPr>
            <a:picLocks noChangeAspect="1"/>
          </p:cNvPicPr>
          <p:nvPr/>
        </p:nvPicPr>
        <p:blipFill>
          <a:blip r:embed="rId6"/>
          <a:stretch>
            <a:fillRect/>
          </a:stretch>
        </p:blipFill>
        <p:spPr>
          <a:xfrm>
            <a:off x="11000964" y="1765524"/>
            <a:ext cx="254569" cy="254569"/>
          </a:xfrm>
          <a:prstGeom prst="rect">
            <a:avLst/>
          </a:prstGeom>
        </p:spPr>
      </p:pic>
      <p:sp>
        <p:nvSpPr>
          <p:cNvPr id="30" name="Text 22"/>
          <p:cNvSpPr txBox="1"/>
          <p:nvPr/>
        </p:nvSpPr>
        <p:spPr>
          <a:xfrm>
            <a:off x="9198864" y="2331720"/>
            <a:ext cx="2240280" cy="594360"/>
          </a:xfrm>
          <a:prstGeom prst="rect">
            <a:avLst/>
          </a:prstGeom>
          <a:noFill/>
          <a:ln/>
        </p:spPr>
        <p:txBody>
          <a:bodyPr wrap="square" lIns="0" tIns="0" rIns="0" bIns="0" rtlCol="0" anchor="t"/>
          <a:lstStyle/>
          <a:p>
            <a:pPr indent="0" marL="0">
              <a:buNone/>
            </a:pPr>
            <a:r>
              <a:rPr lang="en-US" sz="1700" b="1" dirty="0">
                <a:solidFill>
                  <a:srgbClr val="F4F8FC"/>
                </a:solidFill>
                <a:latin typeface="Calibri" pitchFamily="34" charset="0"/>
                <a:ea typeface="Calibri" pitchFamily="34" charset="-122"/>
                <a:cs typeface="Calibri" pitchFamily="34" charset="-120"/>
              </a:rPr>
              <a:t>No answer without a source</a:t>
            </a:r>
            <a:endParaRPr lang="en-US" sz="1700" dirty="0"/>
          </a:p>
        </p:txBody>
      </p:sp>
      <p:sp>
        <p:nvSpPr>
          <p:cNvPr id="31" name="Text 23"/>
          <p:cNvSpPr txBox="1"/>
          <p:nvPr/>
        </p:nvSpPr>
        <p:spPr>
          <a:xfrm>
            <a:off x="9198864" y="2926080"/>
            <a:ext cx="2240280" cy="548640"/>
          </a:xfrm>
          <a:prstGeom prst="rect">
            <a:avLst/>
          </a:prstGeom>
          <a:noFill/>
          <a:ln/>
        </p:spPr>
        <p:txBody>
          <a:bodyPr wrap="square" lIns="0" tIns="0" rIns="0" bIns="0" rtlCol="0" anchor="t"/>
          <a:lstStyle/>
          <a:p>
            <a:pPr indent="0" marL="0">
              <a:buNone/>
            </a:pPr>
            <a:r>
              <a:rPr lang="en-US" sz="1300" dirty="0">
                <a:solidFill>
                  <a:srgbClr val="A3B5C9"/>
                </a:solidFill>
                <a:latin typeface="Calibri" pitchFamily="34" charset="0"/>
                <a:ea typeface="Calibri" pitchFamily="34" charset="-122"/>
                <a:cs typeface="Calibri" pitchFamily="34" charset="-120"/>
              </a:rPr>
              <a:t>Policy answers name the document and section.</a:t>
            </a:r>
            <a:endParaRPr lang="en-US" sz="1300" dirty="0"/>
          </a:p>
        </p:txBody>
      </p:sp>
      <p:sp>
        <p:nvSpPr>
          <p:cNvPr id="32" name="Shape 24"/>
          <p:cNvSpPr/>
          <p:nvPr/>
        </p:nvSpPr>
        <p:spPr>
          <a:xfrm>
            <a:off x="6035040" y="3794760"/>
            <a:ext cx="2697480" cy="2212848"/>
          </a:xfrm>
          <a:prstGeom prst="roundRect">
            <a:avLst>
              <a:gd name="adj" fmla="val 5785"/>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33" name="Text 25"/>
          <p:cNvSpPr txBox="1"/>
          <p:nvPr/>
        </p:nvSpPr>
        <p:spPr>
          <a:xfrm>
            <a:off x="6291072" y="3977640"/>
            <a:ext cx="731520" cy="685800"/>
          </a:xfrm>
          <a:prstGeom prst="rect">
            <a:avLst/>
          </a:prstGeom>
          <a:noFill/>
          <a:ln/>
        </p:spPr>
        <p:txBody>
          <a:bodyPr wrap="square" lIns="0" tIns="0" rIns="0" bIns="0" rtlCol="0" anchor="ctr"/>
          <a:lstStyle/>
          <a:p>
            <a:pPr indent="0" marL="0">
              <a:buNone/>
            </a:pPr>
            <a:r>
              <a:rPr lang="en-US" sz="4400" b="1" dirty="0">
                <a:solidFill>
                  <a:srgbClr val="5CE6B0"/>
                </a:solidFill>
                <a:latin typeface="Calibri" pitchFamily="34" charset="0"/>
                <a:ea typeface="Calibri" pitchFamily="34" charset="-122"/>
                <a:cs typeface="Calibri" pitchFamily="34" charset="-120"/>
              </a:rPr>
              <a:t>3</a:t>
            </a:r>
            <a:endParaRPr lang="en-US" sz="4400" dirty="0"/>
          </a:p>
        </p:txBody>
      </p:sp>
      <p:sp>
        <p:nvSpPr>
          <p:cNvPr id="34" name="Shape 26"/>
          <p:cNvSpPr/>
          <p:nvPr/>
        </p:nvSpPr>
        <p:spPr>
          <a:xfrm>
            <a:off x="7955280" y="4050792"/>
            <a:ext cx="530352" cy="530352"/>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35" name="Image 6" descr="preencoded.png">    </p:cNvPr>
          <p:cNvPicPr>
            <a:picLocks noChangeAspect="1"/>
          </p:cNvPicPr>
          <p:nvPr/>
        </p:nvPicPr>
        <p:blipFill>
          <a:blip r:embed="rId7"/>
          <a:stretch>
            <a:fillRect/>
          </a:stretch>
        </p:blipFill>
        <p:spPr>
          <a:xfrm>
            <a:off x="8093172" y="4188684"/>
            <a:ext cx="254569" cy="254569"/>
          </a:xfrm>
          <a:prstGeom prst="rect">
            <a:avLst/>
          </a:prstGeom>
        </p:spPr>
      </p:pic>
      <p:sp>
        <p:nvSpPr>
          <p:cNvPr id="36" name="Text 27"/>
          <p:cNvSpPr txBox="1"/>
          <p:nvPr/>
        </p:nvSpPr>
        <p:spPr>
          <a:xfrm>
            <a:off x="6291072" y="4754880"/>
            <a:ext cx="2240280" cy="594360"/>
          </a:xfrm>
          <a:prstGeom prst="rect">
            <a:avLst/>
          </a:prstGeom>
          <a:noFill/>
          <a:ln/>
        </p:spPr>
        <p:txBody>
          <a:bodyPr wrap="square" lIns="0" tIns="0" rIns="0" bIns="0" rtlCol="0" anchor="t"/>
          <a:lstStyle/>
          <a:p>
            <a:pPr indent="0" marL="0">
              <a:buNone/>
            </a:pPr>
            <a:r>
              <a:rPr lang="en-US" sz="1700" b="1" dirty="0">
                <a:solidFill>
                  <a:srgbClr val="F4F8FC"/>
                </a:solidFill>
                <a:latin typeface="Calibri" pitchFamily="34" charset="0"/>
                <a:ea typeface="Calibri" pitchFamily="34" charset="-122"/>
                <a:cs typeface="Calibri" pitchFamily="34" charset="-120"/>
              </a:rPr>
              <a:t>Agents draft, people confirm</a:t>
            </a:r>
            <a:endParaRPr lang="en-US" sz="1700" dirty="0"/>
          </a:p>
        </p:txBody>
      </p:sp>
      <p:sp>
        <p:nvSpPr>
          <p:cNvPr id="37" name="Text 28"/>
          <p:cNvSpPr txBox="1"/>
          <p:nvPr/>
        </p:nvSpPr>
        <p:spPr>
          <a:xfrm>
            <a:off x="6291072" y="5349240"/>
            <a:ext cx="2240280" cy="548640"/>
          </a:xfrm>
          <a:prstGeom prst="rect">
            <a:avLst/>
          </a:prstGeom>
          <a:noFill/>
          <a:ln/>
        </p:spPr>
        <p:txBody>
          <a:bodyPr wrap="square" lIns="0" tIns="0" rIns="0" bIns="0" rtlCol="0" anchor="t"/>
          <a:lstStyle/>
          <a:p>
            <a:pPr indent="0" marL="0">
              <a:buNone/>
            </a:pPr>
            <a:r>
              <a:rPr lang="en-US" sz="1300" dirty="0">
                <a:solidFill>
                  <a:srgbClr val="A3B5C9"/>
                </a:solidFill>
                <a:latin typeface="Calibri" pitchFamily="34" charset="0"/>
                <a:ea typeface="Calibri" pitchFamily="34" charset="-122"/>
                <a:cs typeface="Calibri" pitchFamily="34" charset="-120"/>
              </a:rPr>
              <a:t>Nothing is submitted until you click Confirm.</a:t>
            </a:r>
            <a:endParaRPr lang="en-US" sz="1300" dirty="0"/>
          </a:p>
        </p:txBody>
      </p:sp>
      <p:sp>
        <p:nvSpPr>
          <p:cNvPr id="38" name="Shape 29"/>
          <p:cNvSpPr/>
          <p:nvPr/>
        </p:nvSpPr>
        <p:spPr>
          <a:xfrm>
            <a:off x="8942832" y="3794760"/>
            <a:ext cx="2697480" cy="2212848"/>
          </a:xfrm>
          <a:prstGeom prst="roundRect">
            <a:avLst>
              <a:gd name="adj" fmla="val 5785"/>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39" name="Text 30"/>
          <p:cNvSpPr txBox="1"/>
          <p:nvPr/>
        </p:nvSpPr>
        <p:spPr>
          <a:xfrm>
            <a:off x="9198864" y="3977640"/>
            <a:ext cx="731520" cy="685800"/>
          </a:xfrm>
          <a:prstGeom prst="rect">
            <a:avLst/>
          </a:prstGeom>
          <a:noFill/>
          <a:ln/>
        </p:spPr>
        <p:txBody>
          <a:bodyPr wrap="square" lIns="0" tIns="0" rIns="0" bIns="0" rtlCol="0" anchor="ctr"/>
          <a:lstStyle/>
          <a:p>
            <a:pPr indent="0" marL="0">
              <a:buNone/>
            </a:pPr>
            <a:r>
              <a:rPr lang="en-US" sz="4400" b="1" dirty="0">
                <a:solidFill>
                  <a:srgbClr val="5CE6B0"/>
                </a:solidFill>
                <a:latin typeface="Calibri" pitchFamily="34" charset="0"/>
                <a:ea typeface="Calibri" pitchFamily="34" charset="-122"/>
                <a:cs typeface="Calibri" pitchFamily="34" charset="-120"/>
              </a:rPr>
              <a:t>4</a:t>
            </a:r>
            <a:endParaRPr lang="en-US" sz="4400" dirty="0"/>
          </a:p>
        </p:txBody>
      </p:sp>
      <p:sp>
        <p:nvSpPr>
          <p:cNvPr id="40" name="Shape 31"/>
          <p:cNvSpPr/>
          <p:nvPr/>
        </p:nvSpPr>
        <p:spPr>
          <a:xfrm>
            <a:off x="10863072" y="4050792"/>
            <a:ext cx="530352" cy="530352"/>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41" name="Image 7" descr="preencoded.png">    </p:cNvPr>
          <p:cNvPicPr>
            <a:picLocks noChangeAspect="1"/>
          </p:cNvPicPr>
          <p:nvPr/>
        </p:nvPicPr>
        <p:blipFill>
          <a:blip r:embed="rId8"/>
          <a:stretch>
            <a:fillRect/>
          </a:stretch>
        </p:blipFill>
        <p:spPr>
          <a:xfrm>
            <a:off x="11000964" y="4188684"/>
            <a:ext cx="254569" cy="254569"/>
          </a:xfrm>
          <a:prstGeom prst="rect">
            <a:avLst/>
          </a:prstGeom>
        </p:spPr>
      </p:pic>
      <p:sp>
        <p:nvSpPr>
          <p:cNvPr id="42" name="Text 32"/>
          <p:cNvSpPr txBox="1"/>
          <p:nvPr/>
        </p:nvSpPr>
        <p:spPr>
          <a:xfrm>
            <a:off x="9198864" y="4754880"/>
            <a:ext cx="2240280" cy="594360"/>
          </a:xfrm>
          <a:prstGeom prst="rect">
            <a:avLst/>
          </a:prstGeom>
          <a:noFill/>
          <a:ln/>
        </p:spPr>
        <p:txBody>
          <a:bodyPr wrap="square" lIns="0" tIns="0" rIns="0" bIns="0" rtlCol="0" anchor="t"/>
          <a:lstStyle/>
          <a:p>
            <a:pPr indent="0" marL="0">
              <a:buNone/>
            </a:pPr>
            <a:r>
              <a:rPr lang="en-US" sz="1700" b="1" dirty="0">
                <a:solidFill>
                  <a:srgbClr val="F4F8FC"/>
                </a:solidFill>
                <a:latin typeface="Calibri" pitchFamily="34" charset="0"/>
                <a:ea typeface="Calibri" pitchFamily="34" charset="-122"/>
                <a:cs typeface="Calibri" pitchFamily="34" charset="-120"/>
              </a:rPr>
              <a:t>Your records only</a:t>
            </a:r>
            <a:endParaRPr lang="en-US" sz="1700" dirty="0"/>
          </a:p>
        </p:txBody>
      </p:sp>
      <p:sp>
        <p:nvSpPr>
          <p:cNvPr id="43" name="Text 33"/>
          <p:cNvSpPr txBox="1"/>
          <p:nvPr/>
        </p:nvSpPr>
        <p:spPr>
          <a:xfrm>
            <a:off x="9198864" y="5349240"/>
            <a:ext cx="2240280" cy="548640"/>
          </a:xfrm>
          <a:prstGeom prst="rect">
            <a:avLst/>
          </a:prstGeom>
          <a:noFill/>
          <a:ln/>
        </p:spPr>
        <p:txBody>
          <a:bodyPr wrap="square" lIns="0" tIns="0" rIns="0" bIns="0" rtlCol="0" anchor="t"/>
          <a:lstStyle/>
          <a:p>
            <a:pPr indent="0" marL="0">
              <a:buNone/>
            </a:pPr>
            <a:r>
              <a:rPr lang="en-US" sz="1300" dirty="0">
                <a:solidFill>
                  <a:srgbClr val="A3B5C9"/>
                </a:solidFill>
                <a:latin typeface="Calibri" pitchFamily="34" charset="0"/>
                <a:ea typeface="Calibri" pitchFamily="34" charset="-122"/>
                <a:cs typeface="Calibri" pitchFamily="34" charset="-120"/>
              </a:rPr>
              <a:t>The app decides who you are, not the chat.</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097280" y="384048"/>
            <a:ext cx="10607040" cy="685800"/>
          </a:xfrm>
          <a:prstGeom prst="rect">
            <a:avLst/>
          </a:prstGeom>
          <a:noFill/>
          <a:ln/>
        </p:spPr>
        <p:txBody>
          <a:bodyPr wrap="square" lIns="0" tIns="0" rIns="0" bIns="0" rtlCol="0" anchor="ctr"/>
          <a:lstStyle/>
          <a:p>
            <a:pPr algn="l" indent="0" marL="0">
              <a:buNone/>
            </a:pPr>
            <a:r>
              <a:rPr lang="en-US" sz="3200" b="1" dirty="0">
                <a:solidFill>
                  <a:srgbClr val="F4F8FC"/>
                </a:solidFill>
                <a:latin typeface="Calibri" pitchFamily="34" charset="0"/>
                <a:ea typeface="Calibri" pitchFamily="34" charset="-122"/>
                <a:cs typeface="Calibri" pitchFamily="34" charset="-120"/>
              </a:rPr>
              <a:t>How it works</a:t>
            </a:r>
            <a:endParaRPr lang="en-US" sz="3200" dirty="0"/>
          </a:p>
        </p:txBody>
      </p:sp>
      <p:sp>
        <p:nvSpPr>
          <p:cNvPr id="3" name="Shape 1"/>
          <p:cNvSpPr/>
          <p:nvPr/>
        </p:nvSpPr>
        <p:spPr>
          <a:xfrm>
            <a:off x="1897380" y="2286000"/>
            <a:ext cx="0" cy="502920"/>
          </a:xfrm>
          <a:prstGeom prst="line">
            <a:avLst/>
          </a:prstGeom>
          <a:noFill/>
          <a:ln w="19050">
            <a:solidFill>
              <a:srgbClr val="8EE3F5">
                <a:alpha val="85000"/>
              </a:srgbClr>
            </a:solidFill>
            <a:prstDash val="solid"/>
            <a:tailEnd type="triangle"/>
          </a:ln>
        </p:spPr>
      </p:sp>
      <p:sp>
        <p:nvSpPr>
          <p:cNvPr id="4" name="Shape 2"/>
          <p:cNvSpPr/>
          <p:nvPr/>
        </p:nvSpPr>
        <p:spPr>
          <a:xfrm>
            <a:off x="1897380" y="3703320"/>
            <a:ext cx="0" cy="502920"/>
          </a:xfrm>
          <a:prstGeom prst="line">
            <a:avLst/>
          </a:prstGeom>
          <a:noFill/>
          <a:ln w="19050">
            <a:solidFill>
              <a:srgbClr val="8EE3F5">
                <a:alpha val="85000"/>
              </a:srgbClr>
            </a:solidFill>
            <a:prstDash val="solid"/>
            <a:tailEnd type="triangle"/>
          </a:ln>
        </p:spPr>
      </p:sp>
      <p:sp>
        <p:nvSpPr>
          <p:cNvPr id="5" name="Shape 3"/>
          <p:cNvSpPr/>
          <p:nvPr/>
        </p:nvSpPr>
        <p:spPr>
          <a:xfrm flipV="1">
            <a:off x="3017520" y="2286000"/>
            <a:ext cx="960120" cy="502920"/>
          </a:xfrm>
          <a:prstGeom prst="line">
            <a:avLst/>
          </a:prstGeom>
          <a:noFill/>
          <a:ln w="19050">
            <a:solidFill>
              <a:srgbClr val="8EE3F5">
                <a:alpha val="85000"/>
              </a:srgbClr>
            </a:solidFill>
            <a:prstDash val="solid"/>
            <a:tailEnd type="triangle"/>
          </a:ln>
        </p:spPr>
      </p:sp>
      <p:sp>
        <p:nvSpPr>
          <p:cNvPr id="6" name="Shape 4"/>
          <p:cNvSpPr/>
          <p:nvPr/>
        </p:nvSpPr>
        <p:spPr>
          <a:xfrm>
            <a:off x="4960620" y="2286000"/>
            <a:ext cx="0" cy="502920"/>
          </a:xfrm>
          <a:prstGeom prst="line">
            <a:avLst/>
          </a:prstGeom>
          <a:noFill/>
          <a:ln w="19050">
            <a:solidFill>
              <a:srgbClr val="5CE6B0">
                <a:alpha val="85000"/>
              </a:srgbClr>
            </a:solidFill>
            <a:prstDash val="solid"/>
            <a:tailEnd type="triangle"/>
          </a:ln>
        </p:spPr>
      </p:sp>
      <p:sp>
        <p:nvSpPr>
          <p:cNvPr id="7" name="Shape 5"/>
          <p:cNvSpPr/>
          <p:nvPr/>
        </p:nvSpPr>
        <p:spPr>
          <a:xfrm>
            <a:off x="7694676" y="2286000"/>
            <a:ext cx="0" cy="502920"/>
          </a:xfrm>
          <a:prstGeom prst="line">
            <a:avLst/>
          </a:prstGeom>
          <a:noFill/>
          <a:ln w="19050">
            <a:solidFill>
              <a:srgbClr val="5CE6B0">
                <a:alpha val="85000"/>
              </a:srgbClr>
            </a:solidFill>
            <a:prstDash val="solid"/>
            <a:tailEnd type="triangle"/>
          </a:ln>
        </p:spPr>
      </p:sp>
      <p:sp>
        <p:nvSpPr>
          <p:cNvPr id="8" name="Shape 6"/>
          <p:cNvSpPr/>
          <p:nvPr/>
        </p:nvSpPr>
        <p:spPr>
          <a:xfrm>
            <a:off x="10428732" y="2286000"/>
            <a:ext cx="0" cy="502920"/>
          </a:xfrm>
          <a:prstGeom prst="line">
            <a:avLst/>
          </a:prstGeom>
          <a:noFill/>
          <a:ln w="19050">
            <a:solidFill>
              <a:srgbClr val="5CE6B0">
                <a:alpha val="85000"/>
              </a:srgbClr>
            </a:solidFill>
            <a:prstDash val="solid"/>
            <a:tailEnd type="triangle"/>
          </a:ln>
        </p:spPr>
      </p:sp>
      <p:sp>
        <p:nvSpPr>
          <p:cNvPr id="9" name="Shape 7"/>
          <p:cNvSpPr/>
          <p:nvPr/>
        </p:nvSpPr>
        <p:spPr>
          <a:xfrm>
            <a:off x="4960620" y="3703320"/>
            <a:ext cx="0" cy="502920"/>
          </a:xfrm>
          <a:prstGeom prst="line">
            <a:avLst/>
          </a:prstGeom>
          <a:noFill/>
          <a:ln w="19050">
            <a:solidFill>
              <a:srgbClr val="F2C46D">
                <a:alpha val="85000"/>
              </a:srgbClr>
            </a:solidFill>
            <a:prstDash val="solid"/>
            <a:tailEnd type="triangle"/>
          </a:ln>
        </p:spPr>
      </p:sp>
      <p:sp>
        <p:nvSpPr>
          <p:cNvPr id="10" name="Shape 8"/>
          <p:cNvSpPr/>
          <p:nvPr/>
        </p:nvSpPr>
        <p:spPr>
          <a:xfrm>
            <a:off x="7694676" y="3703320"/>
            <a:ext cx="0" cy="502920"/>
          </a:xfrm>
          <a:prstGeom prst="line">
            <a:avLst/>
          </a:prstGeom>
          <a:noFill/>
          <a:ln w="19050">
            <a:solidFill>
              <a:srgbClr val="F2C46D">
                <a:alpha val="85000"/>
              </a:srgbClr>
            </a:solidFill>
            <a:prstDash val="solid"/>
            <a:tailEnd type="triangle"/>
          </a:ln>
        </p:spPr>
      </p:sp>
      <p:sp>
        <p:nvSpPr>
          <p:cNvPr id="11" name="Shape 9"/>
          <p:cNvSpPr/>
          <p:nvPr/>
        </p:nvSpPr>
        <p:spPr>
          <a:xfrm>
            <a:off x="10428732" y="3703320"/>
            <a:ext cx="0" cy="502920"/>
          </a:xfrm>
          <a:prstGeom prst="line">
            <a:avLst/>
          </a:prstGeom>
          <a:noFill/>
          <a:ln w="19050">
            <a:solidFill>
              <a:srgbClr val="F2C46D">
                <a:alpha val="85000"/>
              </a:srgbClr>
            </a:solidFill>
            <a:prstDash val="solid"/>
            <a:tailEnd type="triangle"/>
          </a:ln>
        </p:spPr>
      </p:sp>
      <p:sp>
        <p:nvSpPr>
          <p:cNvPr id="12" name="Shape 10"/>
          <p:cNvSpPr/>
          <p:nvPr/>
        </p:nvSpPr>
        <p:spPr>
          <a:xfrm flipH="1">
            <a:off x="8677656" y="3703320"/>
            <a:ext cx="905256" cy="502920"/>
          </a:xfrm>
          <a:prstGeom prst="line">
            <a:avLst/>
          </a:prstGeom>
          <a:noFill/>
          <a:ln w="19050">
            <a:solidFill>
              <a:srgbClr val="F2C46D">
                <a:alpha val="85000"/>
              </a:srgbClr>
            </a:solidFill>
            <a:prstDash val="solid"/>
            <a:tailEnd type="triangle"/>
          </a:ln>
        </p:spPr>
      </p:sp>
      <p:sp>
        <p:nvSpPr>
          <p:cNvPr id="13" name="Shape 11"/>
          <p:cNvSpPr/>
          <p:nvPr/>
        </p:nvSpPr>
        <p:spPr>
          <a:xfrm>
            <a:off x="3246120" y="4663440"/>
            <a:ext cx="457200" cy="0"/>
          </a:xfrm>
          <a:prstGeom prst="line">
            <a:avLst/>
          </a:prstGeom>
          <a:noFill/>
          <a:ln w="19050">
            <a:solidFill>
              <a:srgbClr val="F2C46D">
                <a:alpha val="85000"/>
              </a:srgbClr>
            </a:solidFill>
            <a:prstDash val="solid"/>
            <a:tailEnd type="triangle"/>
          </a:ln>
        </p:spPr>
      </p:sp>
      <p:sp>
        <p:nvSpPr>
          <p:cNvPr id="14" name="Shape 12"/>
          <p:cNvSpPr/>
          <p:nvPr/>
        </p:nvSpPr>
        <p:spPr>
          <a:xfrm>
            <a:off x="548640" y="1371600"/>
            <a:ext cx="2697480" cy="914400"/>
          </a:xfrm>
          <a:prstGeom prst="roundRect">
            <a:avLst>
              <a:gd name="adj" fmla="val 12000"/>
            </a:avLst>
          </a:prstGeom>
          <a:solidFill>
            <a:srgbClr val="132842">
              <a:alpha val="92000"/>
            </a:srgbClr>
          </a:solidFill>
          <a:ln w="12700">
            <a:solidFill>
              <a:srgbClr val="8EE3F5"/>
            </a:solidFill>
            <a:prstDash val="solid"/>
          </a:ln>
          <a:effectLst>
            <a:outerShdw sx="100000" sy="100000" kx="0" ky="0" algn="bl" rotWithShape="0" blurRad="127000" dist="38100" dir="5400000">
              <a:srgbClr val="000000">
                <a:alpha val="35000"/>
              </a:srgbClr>
            </a:outerShdw>
          </a:effectLst>
        </p:spPr>
      </p:sp>
      <p:sp>
        <p:nvSpPr>
          <p:cNvPr id="15" name="Shape 13"/>
          <p:cNvSpPr/>
          <p:nvPr/>
        </p:nvSpPr>
        <p:spPr>
          <a:xfrm>
            <a:off x="713232" y="1591056"/>
            <a:ext cx="475488" cy="475488"/>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16" name="Image 0" descr="preencoded.png">    </p:cNvPr>
          <p:cNvPicPr>
            <a:picLocks noChangeAspect="1"/>
          </p:cNvPicPr>
          <p:nvPr/>
        </p:nvPicPr>
        <p:blipFill>
          <a:blip r:embed="rId1"/>
          <a:stretch>
            <a:fillRect/>
          </a:stretch>
        </p:blipFill>
        <p:spPr>
          <a:xfrm>
            <a:off x="836859" y="1714683"/>
            <a:ext cx="228234" cy="228234"/>
          </a:xfrm>
          <a:prstGeom prst="rect">
            <a:avLst/>
          </a:prstGeom>
        </p:spPr>
      </p:pic>
      <p:sp>
        <p:nvSpPr>
          <p:cNvPr id="17" name="Text 14"/>
          <p:cNvSpPr txBox="1"/>
          <p:nvPr/>
        </p:nvSpPr>
        <p:spPr>
          <a:xfrm>
            <a:off x="1298448" y="1371600"/>
            <a:ext cx="1856232"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Employee</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phone or laptop</a:t>
            </a:r>
            <a:endParaRPr lang="en-US" sz="1400" dirty="0"/>
          </a:p>
        </p:txBody>
      </p:sp>
      <p:sp>
        <p:nvSpPr>
          <p:cNvPr id="18" name="Shape 15"/>
          <p:cNvSpPr/>
          <p:nvPr/>
        </p:nvSpPr>
        <p:spPr>
          <a:xfrm>
            <a:off x="3703320" y="1371600"/>
            <a:ext cx="7982712" cy="914400"/>
          </a:xfrm>
          <a:prstGeom prst="roundRect">
            <a:avLst>
              <a:gd name="adj" fmla="val 12000"/>
            </a:avLst>
          </a:prstGeom>
          <a:solidFill>
            <a:srgbClr val="132842">
              <a:alpha val="92000"/>
            </a:srgbClr>
          </a:solidFill>
          <a:ln w="22225">
            <a:solidFill>
              <a:srgbClr val="5CE6B0"/>
            </a:solidFill>
            <a:prstDash val="solid"/>
          </a:ln>
          <a:effectLst>
            <a:outerShdw sx="100000" sy="100000" kx="0" ky="0" algn="bl" rotWithShape="0" blurRad="177800" dist="50800" dir="5400000">
              <a:srgbClr val="5CE6B0">
                <a:alpha val="55000"/>
              </a:srgbClr>
            </a:outerShdw>
          </a:effectLst>
        </p:spPr>
      </p:sp>
      <p:sp>
        <p:nvSpPr>
          <p:cNvPr id="19" name="Shape 16"/>
          <p:cNvSpPr/>
          <p:nvPr/>
        </p:nvSpPr>
        <p:spPr>
          <a:xfrm>
            <a:off x="3867912" y="1591056"/>
            <a:ext cx="475488" cy="475488"/>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45000"/>
              </a:srgbClr>
            </a:outerShdw>
          </a:effectLst>
        </p:spPr>
      </p:sp>
      <p:pic>
        <p:nvPicPr>
          <p:cNvPr id="20" name="Image 1" descr="preencoded.png">    </p:cNvPr>
          <p:cNvPicPr>
            <a:picLocks noChangeAspect="1"/>
          </p:cNvPicPr>
          <p:nvPr/>
        </p:nvPicPr>
        <p:blipFill>
          <a:blip r:embed="rId2"/>
          <a:stretch>
            <a:fillRect/>
          </a:stretch>
        </p:blipFill>
        <p:spPr>
          <a:xfrm>
            <a:off x="3991539" y="1714683"/>
            <a:ext cx="228234" cy="228234"/>
          </a:xfrm>
          <a:prstGeom prst="rect">
            <a:avLst/>
          </a:prstGeom>
        </p:spPr>
      </p:pic>
      <p:sp>
        <p:nvSpPr>
          <p:cNvPr id="21" name="Text 17"/>
          <p:cNvSpPr txBox="1"/>
          <p:nvPr/>
        </p:nvSpPr>
        <p:spPr>
          <a:xfrm>
            <a:off x="4453128" y="1371600"/>
            <a:ext cx="7141464"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Coordinator agent</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decides which specialists to ask</a:t>
            </a:r>
            <a:endParaRPr lang="en-US" sz="1400" dirty="0"/>
          </a:p>
        </p:txBody>
      </p:sp>
      <p:sp>
        <p:nvSpPr>
          <p:cNvPr id="22" name="Shape 18"/>
          <p:cNvSpPr/>
          <p:nvPr/>
        </p:nvSpPr>
        <p:spPr>
          <a:xfrm>
            <a:off x="548640" y="2788920"/>
            <a:ext cx="2697480" cy="914400"/>
          </a:xfrm>
          <a:prstGeom prst="roundRect">
            <a:avLst>
              <a:gd name="adj" fmla="val 12000"/>
            </a:avLst>
          </a:prstGeom>
          <a:solidFill>
            <a:srgbClr val="132842">
              <a:alpha val="92000"/>
            </a:srgbClr>
          </a:solidFill>
          <a:ln w="12700">
            <a:solidFill>
              <a:srgbClr val="8EE3F5"/>
            </a:solidFill>
            <a:prstDash val="solid"/>
          </a:ln>
          <a:effectLst>
            <a:outerShdw sx="100000" sy="100000" kx="0" ky="0" algn="bl" rotWithShape="0" blurRad="127000" dist="38100" dir="5400000">
              <a:srgbClr val="000000">
                <a:alpha val="35000"/>
              </a:srgbClr>
            </a:outerShdw>
          </a:effectLst>
        </p:spPr>
      </p:sp>
      <p:sp>
        <p:nvSpPr>
          <p:cNvPr id="23" name="Shape 19"/>
          <p:cNvSpPr/>
          <p:nvPr/>
        </p:nvSpPr>
        <p:spPr>
          <a:xfrm>
            <a:off x="713232" y="3008376"/>
            <a:ext cx="475488" cy="475488"/>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24" name="Image 2" descr="preencoded.png">    </p:cNvPr>
          <p:cNvPicPr>
            <a:picLocks noChangeAspect="1"/>
          </p:cNvPicPr>
          <p:nvPr/>
        </p:nvPicPr>
        <p:blipFill>
          <a:blip r:embed="rId3"/>
          <a:stretch>
            <a:fillRect/>
          </a:stretch>
        </p:blipFill>
        <p:spPr>
          <a:xfrm>
            <a:off x="836859" y="3132003"/>
            <a:ext cx="228234" cy="228234"/>
          </a:xfrm>
          <a:prstGeom prst="rect">
            <a:avLst/>
          </a:prstGeom>
        </p:spPr>
      </p:pic>
      <p:sp>
        <p:nvSpPr>
          <p:cNvPr id="25" name="Text 20"/>
          <p:cNvSpPr txBox="1"/>
          <p:nvPr/>
        </p:nvSpPr>
        <p:spPr>
          <a:xfrm>
            <a:off x="1298448" y="2788920"/>
            <a:ext cx="1856232"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Streamlit app</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on Amazon EC2; sets who you are</a:t>
            </a:r>
            <a:endParaRPr lang="en-US" sz="1400" dirty="0"/>
          </a:p>
        </p:txBody>
      </p:sp>
      <p:sp>
        <p:nvSpPr>
          <p:cNvPr id="26" name="Shape 21"/>
          <p:cNvSpPr/>
          <p:nvPr/>
        </p:nvSpPr>
        <p:spPr>
          <a:xfrm>
            <a:off x="3703320" y="2788920"/>
            <a:ext cx="2514600" cy="914400"/>
          </a:xfrm>
          <a:prstGeom prst="roundRect">
            <a:avLst>
              <a:gd name="adj" fmla="val 12000"/>
            </a:avLst>
          </a:prstGeom>
          <a:solidFill>
            <a:srgbClr val="132842">
              <a:alpha val="92000"/>
            </a:srgbClr>
          </a:solidFill>
          <a:ln w="12700">
            <a:solidFill>
              <a:srgbClr val="5CE6B0"/>
            </a:solidFill>
            <a:prstDash val="solid"/>
          </a:ln>
          <a:effectLst>
            <a:outerShdw sx="100000" sy="100000" kx="0" ky="0" algn="bl" rotWithShape="0" blurRad="127000" dist="38100" dir="5400000">
              <a:srgbClr val="000000">
                <a:alpha val="35000"/>
              </a:srgbClr>
            </a:outerShdw>
          </a:effectLst>
        </p:spPr>
      </p:sp>
      <p:sp>
        <p:nvSpPr>
          <p:cNvPr id="27" name="Shape 22"/>
          <p:cNvSpPr/>
          <p:nvPr/>
        </p:nvSpPr>
        <p:spPr>
          <a:xfrm>
            <a:off x="3867912" y="3008376"/>
            <a:ext cx="475488" cy="475488"/>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45000"/>
              </a:srgbClr>
            </a:outerShdw>
          </a:effectLst>
        </p:spPr>
      </p:sp>
      <p:pic>
        <p:nvPicPr>
          <p:cNvPr id="28" name="Image 3" descr="preencoded.png">    </p:cNvPr>
          <p:cNvPicPr>
            <a:picLocks noChangeAspect="1"/>
          </p:cNvPicPr>
          <p:nvPr/>
        </p:nvPicPr>
        <p:blipFill>
          <a:blip r:embed="rId4"/>
          <a:stretch>
            <a:fillRect/>
          </a:stretch>
        </p:blipFill>
        <p:spPr>
          <a:xfrm>
            <a:off x="3991539" y="3132003"/>
            <a:ext cx="228234" cy="228234"/>
          </a:xfrm>
          <a:prstGeom prst="rect">
            <a:avLst/>
          </a:prstGeom>
        </p:spPr>
      </p:pic>
      <p:sp>
        <p:nvSpPr>
          <p:cNvPr id="29" name="Text 23"/>
          <p:cNvSpPr txBox="1"/>
          <p:nvPr/>
        </p:nvSpPr>
        <p:spPr>
          <a:xfrm>
            <a:off x="4453128" y="2788920"/>
            <a:ext cx="1673352"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IT specialist</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incidents, access, changes; drafts only</a:t>
            </a:r>
            <a:endParaRPr lang="en-US" sz="1400" dirty="0"/>
          </a:p>
        </p:txBody>
      </p:sp>
      <p:sp>
        <p:nvSpPr>
          <p:cNvPr id="30" name="Shape 24"/>
          <p:cNvSpPr/>
          <p:nvPr/>
        </p:nvSpPr>
        <p:spPr>
          <a:xfrm>
            <a:off x="6437376" y="2788920"/>
            <a:ext cx="2514600" cy="914400"/>
          </a:xfrm>
          <a:prstGeom prst="roundRect">
            <a:avLst>
              <a:gd name="adj" fmla="val 12000"/>
            </a:avLst>
          </a:prstGeom>
          <a:solidFill>
            <a:srgbClr val="132842">
              <a:alpha val="92000"/>
            </a:srgbClr>
          </a:solidFill>
          <a:ln w="12700">
            <a:solidFill>
              <a:srgbClr val="5CE6B0"/>
            </a:solidFill>
            <a:prstDash val="solid"/>
          </a:ln>
          <a:effectLst>
            <a:outerShdw sx="100000" sy="100000" kx="0" ky="0" algn="bl" rotWithShape="0" blurRad="127000" dist="38100" dir="5400000">
              <a:srgbClr val="000000">
                <a:alpha val="35000"/>
              </a:srgbClr>
            </a:outerShdw>
          </a:effectLst>
        </p:spPr>
      </p:sp>
      <p:sp>
        <p:nvSpPr>
          <p:cNvPr id="31" name="Shape 25"/>
          <p:cNvSpPr/>
          <p:nvPr/>
        </p:nvSpPr>
        <p:spPr>
          <a:xfrm>
            <a:off x="6601968" y="3008376"/>
            <a:ext cx="475488" cy="475488"/>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45000"/>
              </a:srgbClr>
            </a:outerShdw>
          </a:effectLst>
        </p:spPr>
      </p:sp>
      <p:pic>
        <p:nvPicPr>
          <p:cNvPr id="32" name="Image 4" descr="preencoded.png">    </p:cNvPr>
          <p:cNvPicPr>
            <a:picLocks noChangeAspect="1"/>
          </p:cNvPicPr>
          <p:nvPr/>
        </p:nvPicPr>
        <p:blipFill>
          <a:blip r:embed="rId5"/>
          <a:stretch>
            <a:fillRect/>
          </a:stretch>
        </p:blipFill>
        <p:spPr>
          <a:xfrm>
            <a:off x="6725595" y="3132003"/>
            <a:ext cx="228234" cy="228234"/>
          </a:xfrm>
          <a:prstGeom prst="rect">
            <a:avLst/>
          </a:prstGeom>
        </p:spPr>
      </p:pic>
      <p:sp>
        <p:nvSpPr>
          <p:cNvPr id="33" name="Text 26"/>
          <p:cNvSpPr txBox="1"/>
          <p:nvPr/>
        </p:nvSpPr>
        <p:spPr>
          <a:xfrm>
            <a:off x="7187184" y="2788920"/>
            <a:ext cx="1673352"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Developer specialist</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projects and tasks</a:t>
            </a:r>
            <a:endParaRPr lang="en-US" sz="1400" dirty="0"/>
          </a:p>
        </p:txBody>
      </p:sp>
      <p:sp>
        <p:nvSpPr>
          <p:cNvPr id="34" name="Shape 27"/>
          <p:cNvSpPr/>
          <p:nvPr/>
        </p:nvSpPr>
        <p:spPr>
          <a:xfrm>
            <a:off x="9171432" y="2788920"/>
            <a:ext cx="2514600" cy="914400"/>
          </a:xfrm>
          <a:prstGeom prst="roundRect">
            <a:avLst>
              <a:gd name="adj" fmla="val 12000"/>
            </a:avLst>
          </a:prstGeom>
          <a:solidFill>
            <a:srgbClr val="132842">
              <a:alpha val="92000"/>
            </a:srgbClr>
          </a:solidFill>
          <a:ln w="12700">
            <a:solidFill>
              <a:srgbClr val="5CE6B0"/>
            </a:solidFill>
            <a:prstDash val="solid"/>
          </a:ln>
          <a:effectLst>
            <a:outerShdw sx="100000" sy="100000" kx="0" ky="0" algn="bl" rotWithShape="0" blurRad="127000" dist="38100" dir="5400000">
              <a:srgbClr val="000000">
                <a:alpha val="35000"/>
              </a:srgbClr>
            </a:outerShdw>
          </a:effectLst>
        </p:spPr>
      </p:sp>
      <p:sp>
        <p:nvSpPr>
          <p:cNvPr id="35" name="Shape 28"/>
          <p:cNvSpPr/>
          <p:nvPr/>
        </p:nvSpPr>
        <p:spPr>
          <a:xfrm>
            <a:off x="9336024" y="3008376"/>
            <a:ext cx="475488" cy="475488"/>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45000"/>
              </a:srgbClr>
            </a:outerShdw>
          </a:effectLst>
        </p:spPr>
      </p:sp>
      <p:pic>
        <p:nvPicPr>
          <p:cNvPr id="36" name="Image 5" descr="preencoded.png">    </p:cNvPr>
          <p:cNvPicPr>
            <a:picLocks noChangeAspect="1"/>
          </p:cNvPicPr>
          <p:nvPr/>
        </p:nvPicPr>
        <p:blipFill>
          <a:blip r:embed="rId6"/>
          <a:stretch>
            <a:fillRect/>
          </a:stretch>
        </p:blipFill>
        <p:spPr>
          <a:xfrm>
            <a:off x="9459651" y="3132003"/>
            <a:ext cx="228234" cy="228234"/>
          </a:xfrm>
          <a:prstGeom prst="rect">
            <a:avLst/>
          </a:prstGeom>
        </p:spPr>
      </p:pic>
      <p:sp>
        <p:nvSpPr>
          <p:cNvPr id="37" name="Text 29"/>
          <p:cNvSpPr txBox="1"/>
          <p:nvPr/>
        </p:nvSpPr>
        <p:spPr>
          <a:xfrm>
            <a:off x="9921240" y="2788920"/>
            <a:ext cx="1673352"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HR specialist</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PTO, expenses, jobs, policy</a:t>
            </a:r>
            <a:endParaRPr lang="en-US" sz="1400" dirty="0"/>
          </a:p>
        </p:txBody>
      </p:sp>
      <p:sp>
        <p:nvSpPr>
          <p:cNvPr id="38" name="Shape 30"/>
          <p:cNvSpPr/>
          <p:nvPr/>
        </p:nvSpPr>
        <p:spPr>
          <a:xfrm>
            <a:off x="548640" y="4206240"/>
            <a:ext cx="2697480" cy="914400"/>
          </a:xfrm>
          <a:prstGeom prst="roundRect">
            <a:avLst>
              <a:gd name="adj" fmla="val 12000"/>
            </a:avLst>
          </a:prstGeom>
          <a:solidFill>
            <a:srgbClr val="132842">
              <a:alpha val="92000"/>
            </a:srgbClr>
          </a:solidFill>
          <a:ln w="12700">
            <a:solidFill>
              <a:srgbClr val="8EE3F5"/>
            </a:solidFill>
            <a:prstDash val="solid"/>
          </a:ln>
          <a:effectLst>
            <a:outerShdw sx="100000" sy="100000" kx="0" ky="0" algn="bl" rotWithShape="0" blurRad="127000" dist="38100" dir="5400000">
              <a:srgbClr val="000000">
                <a:alpha val="35000"/>
              </a:srgbClr>
            </a:outerShdw>
          </a:effectLst>
        </p:spPr>
      </p:sp>
      <p:sp>
        <p:nvSpPr>
          <p:cNvPr id="39" name="Shape 31"/>
          <p:cNvSpPr/>
          <p:nvPr/>
        </p:nvSpPr>
        <p:spPr>
          <a:xfrm>
            <a:off x="713232" y="4425696"/>
            <a:ext cx="475488" cy="475488"/>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40" name="Image 6" descr="preencoded.png">    </p:cNvPr>
          <p:cNvPicPr>
            <a:picLocks noChangeAspect="1"/>
          </p:cNvPicPr>
          <p:nvPr/>
        </p:nvPicPr>
        <p:blipFill>
          <a:blip r:embed="rId7"/>
          <a:stretch>
            <a:fillRect/>
          </a:stretch>
        </p:blipFill>
        <p:spPr>
          <a:xfrm>
            <a:off x="836859" y="4549323"/>
            <a:ext cx="228234" cy="228234"/>
          </a:xfrm>
          <a:prstGeom prst="rect">
            <a:avLst/>
          </a:prstGeom>
        </p:spPr>
      </p:pic>
      <p:sp>
        <p:nvSpPr>
          <p:cNvPr id="41" name="Text 32"/>
          <p:cNvSpPr txBox="1"/>
          <p:nvPr/>
        </p:nvSpPr>
        <p:spPr>
          <a:xfrm>
            <a:off x="1298448" y="4206240"/>
            <a:ext cx="1856232"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Dashboard and Confirm</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app code: reads the tiles, writes confirmed requests</a:t>
            </a:r>
            <a:endParaRPr lang="en-US" sz="1400" dirty="0"/>
          </a:p>
        </p:txBody>
      </p:sp>
      <p:sp>
        <p:nvSpPr>
          <p:cNvPr id="42" name="Shape 33"/>
          <p:cNvSpPr/>
          <p:nvPr/>
        </p:nvSpPr>
        <p:spPr>
          <a:xfrm>
            <a:off x="3703320" y="4206240"/>
            <a:ext cx="5248656" cy="914400"/>
          </a:xfrm>
          <a:prstGeom prst="roundRect">
            <a:avLst>
              <a:gd name="adj" fmla="val 12000"/>
            </a:avLst>
          </a:prstGeom>
          <a:solidFill>
            <a:srgbClr val="132842">
              <a:alpha val="92000"/>
            </a:srgbClr>
          </a:solidFill>
          <a:ln w="12700">
            <a:solidFill>
              <a:srgbClr val="F2C46D"/>
            </a:solidFill>
            <a:prstDash val="solid"/>
          </a:ln>
          <a:effectLst>
            <a:outerShdw sx="100000" sy="100000" kx="0" ky="0" algn="bl" rotWithShape="0" blurRad="127000" dist="38100" dir="5400000">
              <a:srgbClr val="000000">
                <a:alpha val="35000"/>
              </a:srgbClr>
            </a:outerShdw>
          </a:effectLst>
        </p:spPr>
      </p:sp>
      <p:sp>
        <p:nvSpPr>
          <p:cNvPr id="43" name="Shape 34"/>
          <p:cNvSpPr/>
          <p:nvPr/>
        </p:nvSpPr>
        <p:spPr>
          <a:xfrm>
            <a:off x="3867912" y="4425696"/>
            <a:ext cx="475488" cy="475488"/>
          </a:xfrm>
          <a:prstGeom prst="ellipse">
            <a:avLst/>
          </a:prstGeom>
          <a:solidFill>
            <a:srgbClr val="132842"/>
          </a:solidFill>
          <a:ln w="15875">
            <a:solidFill>
              <a:srgbClr val="F2C46D"/>
            </a:solidFill>
            <a:prstDash val="solid"/>
          </a:ln>
          <a:effectLst>
            <a:outerShdw sx="100000" sy="100000" kx="0" ky="0" algn="bl" rotWithShape="0" blurRad="127000" dist="50800" dir="5400000">
              <a:srgbClr val="F2C46D">
                <a:alpha val="45000"/>
              </a:srgbClr>
            </a:outerShdw>
          </a:effectLst>
        </p:spPr>
      </p:sp>
      <p:pic>
        <p:nvPicPr>
          <p:cNvPr id="44" name="Image 7" descr="preencoded.png">    </p:cNvPr>
          <p:cNvPicPr>
            <a:picLocks noChangeAspect="1"/>
          </p:cNvPicPr>
          <p:nvPr/>
        </p:nvPicPr>
        <p:blipFill>
          <a:blip r:embed="rId8"/>
          <a:stretch>
            <a:fillRect/>
          </a:stretch>
        </p:blipFill>
        <p:spPr>
          <a:xfrm>
            <a:off x="3991539" y="4549323"/>
            <a:ext cx="228234" cy="228234"/>
          </a:xfrm>
          <a:prstGeom prst="rect">
            <a:avLst/>
          </a:prstGeom>
        </p:spPr>
      </p:pic>
      <p:sp>
        <p:nvSpPr>
          <p:cNvPr id="45" name="Text 35"/>
          <p:cNvSpPr txBox="1"/>
          <p:nvPr/>
        </p:nvSpPr>
        <p:spPr>
          <a:xfrm>
            <a:off x="4453128" y="4206240"/>
            <a:ext cx="4407408"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Amazon DynamoDB</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employee records and confirmed requests</a:t>
            </a:r>
            <a:endParaRPr lang="en-US" sz="1400" dirty="0"/>
          </a:p>
        </p:txBody>
      </p:sp>
      <p:sp>
        <p:nvSpPr>
          <p:cNvPr id="46" name="Shape 36"/>
          <p:cNvSpPr/>
          <p:nvPr/>
        </p:nvSpPr>
        <p:spPr>
          <a:xfrm>
            <a:off x="9171432" y="4206240"/>
            <a:ext cx="2514600" cy="914400"/>
          </a:xfrm>
          <a:prstGeom prst="roundRect">
            <a:avLst>
              <a:gd name="adj" fmla="val 12000"/>
            </a:avLst>
          </a:prstGeom>
          <a:solidFill>
            <a:srgbClr val="132842">
              <a:alpha val="92000"/>
            </a:srgbClr>
          </a:solidFill>
          <a:ln w="12700">
            <a:solidFill>
              <a:srgbClr val="F2C46D"/>
            </a:solidFill>
            <a:prstDash val="solid"/>
          </a:ln>
          <a:effectLst>
            <a:outerShdw sx="100000" sy="100000" kx="0" ky="0" algn="bl" rotWithShape="0" blurRad="127000" dist="38100" dir="5400000">
              <a:srgbClr val="000000">
                <a:alpha val="35000"/>
              </a:srgbClr>
            </a:outerShdw>
          </a:effectLst>
        </p:spPr>
      </p:sp>
      <p:sp>
        <p:nvSpPr>
          <p:cNvPr id="47" name="Shape 37"/>
          <p:cNvSpPr/>
          <p:nvPr/>
        </p:nvSpPr>
        <p:spPr>
          <a:xfrm>
            <a:off x="9336024" y="4425696"/>
            <a:ext cx="475488" cy="475488"/>
          </a:xfrm>
          <a:prstGeom prst="ellipse">
            <a:avLst/>
          </a:prstGeom>
          <a:solidFill>
            <a:srgbClr val="132842"/>
          </a:solidFill>
          <a:ln w="15875">
            <a:solidFill>
              <a:srgbClr val="F2C46D"/>
            </a:solidFill>
            <a:prstDash val="solid"/>
          </a:ln>
          <a:effectLst>
            <a:outerShdw sx="100000" sy="100000" kx="0" ky="0" algn="bl" rotWithShape="0" blurRad="127000" dist="50800" dir="5400000">
              <a:srgbClr val="F2C46D">
                <a:alpha val="45000"/>
              </a:srgbClr>
            </a:outerShdw>
          </a:effectLst>
        </p:spPr>
      </p:sp>
      <p:pic>
        <p:nvPicPr>
          <p:cNvPr id="48" name="Image 8" descr="preencoded.png">    </p:cNvPr>
          <p:cNvPicPr>
            <a:picLocks noChangeAspect="1"/>
          </p:cNvPicPr>
          <p:nvPr/>
        </p:nvPicPr>
        <p:blipFill>
          <a:blip r:embed="rId9"/>
          <a:stretch>
            <a:fillRect/>
          </a:stretch>
        </p:blipFill>
        <p:spPr>
          <a:xfrm>
            <a:off x="9459651" y="4549323"/>
            <a:ext cx="228234" cy="228234"/>
          </a:xfrm>
          <a:prstGeom prst="rect">
            <a:avLst/>
          </a:prstGeom>
        </p:spPr>
      </p:pic>
      <p:sp>
        <p:nvSpPr>
          <p:cNvPr id="49" name="Text 38"/>
          <p:cNvSpPr txBox="1"/>
          <p:nvPr/>
        </p:nvSpPr>
        <p:spPr>
          <a:xfrm>
            <a:off x="9921240" y="4206240"/>
            <a:ext cx="1673352" cy="914400"/>
          </a:xfrm>
          <a:prstGeom prst="rect">
            <a:avLst/>
          </a:prstGeom>
          <a:noFill/>
          <a:ln/>
        </p:spPr>
        <p:txBody>
          <a:bodyPr wrap="square" lIns="0" tIns="0" rIns="0" bIns="0" rtlCol="0" anchor="ctr"/>
          <a:lstStyle/>
          <a:p>
            <a:pPr indent="0" marL="0">
              <a:spcAft>
                <a:spcPts val="200"/>
              </a:spcAft>
              <a:buNone/>
            </a:pPr>
            <a:r>
              <a:rPr lang="en-US" sz="1400" b="1" dirty="0">
                <a:solidFill>
                  <a:srgbClr val="F4F8FC"/>
                </a:solidFill>
                <a:latin typeface="Calibri" pitchFamily="34" charset="0"/>
                <a:ea typeface="Calibri" pitchFamily="34" charset="-122"/>
                <a:cs typeface="Calibri" pitchFamily="34" charset="-120"/>
              </a:rPr>
              <a:t>Bedrock Knowledge Base</a:t>
            </a:r>
            <a:endParaRPr lang="en-US" sz="1400" dirty="0"/>
          </a:p>
          <a:p>
            <a:pPr indent="0" marL="0">
              <a:spcAft>
                <a:spcPts val="200"/>
              </a:spcAft>
              <a:buNone/>
            </a:pPr>
            <a:r>
              <a:rPr lang="en-US" sz="1100" dirty="0">
                <a:solidFill>
                  <a:srgbClr val="A3B5C9"/>
                </a:solidFill>
                <a:latin typeface="Calibri" pitchFamily="34" charset="0"/>
                <a:ea typeface="Calibri" pitchFamily="34" charset="-122"/>
                <a:cs typeface="Calibri" pitchFamily="34" charset="-120"/>
              </a:rPr>
              <a:t>policies, with citations</a:t>
            </a:r>
            <a:endParaRPr lang="en-US" sz="1400" dirty="0"/>
          </a:p>
        </p:txBody>
      </p:sp>
      <p:sp>
        <p:nvSpPr>
          <p:cNvPr id="50" name="Shape 39"/>
          <p:cNvSpPr/>
          <p:nvPr/>
        </p:nvSpPr>
        <p:spPr>
          <a:xfrm>
            <a:off x="548640" y="5440680"/>
            <a:ext cx="11091672" cy="621792"/>
          </a:xfrm>
          <a:prstGeom prst="roundRect">
            <a:avLst>
              <a:gd name="adj" fmla="val 50000"/>
            </a:avLst>
          </a:prstGeom>
          <a:solidFill>
            <a:srgbClr val="0F1E33">
              <a:alpha val="65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pic>
        <p:nvPicPr>
          <p:cNvPr id="51" name="Image 9" descr="preencoded.png">    </p:cNvPr>
          <p:cNvPicPr>
            <a:picLocks noChangeAspect="1"/>
          </p:cNvPicPr>
          <p:nvPr/>
        </p:nvPicPr>
        <p:blipFill>
          <a:blip r:embed="rId10"/>
          <a:stretch>
            <a:fillRect/>
          </a:stretch>
        </p:blipFill>
        <p:spPr>
          <a:xfrm>
            <a:off x="749808" y="5605272"/>
            <a:ext cx="292608" cy="292608"/>
          </a:xfrm>
          <a:prstGeom prst="rect">
            <a:avLst/>
          </a:prstGeom>
        </p:spPr>
      </p:pic>
      <p:sp>
        <p:nvSpPr>
          <p:cNvPr id="52" name="Text 40"/>
          <p:cNvSpPr txBox="1"/>
          <p:nvPr/>
        </p:nvSpPr>
        <p:spPr>
          <a:xfrm>
            <a:off x="1188720" y="5440680"/>
            <a:ext cx="10287000" cy="621792"/>
          </a:xfrm>
          <a:prstGeom prst="rect">
            <a:avLst/>
          </a:prstGeom>
          <a:noFill/>
          <a:ln/>
        </p:spPr>
        <p:txBody>
          <a:bodyPr wrap="square" lIns="0" tIns="0" rIns="0" bIns="0" rtlCol="0" anchor="ctr"/>
          <a:lstStyle/>
          <a:p>
            <a:pPr indent="0" marL="0">
              <a:buNone/>
            </a:pPr>
            <a:r>
              <a:rPr lang="en-US" sz="1300" i="1" dirty="0">
                <a:solidFill>
                  <a:srgbClr val="DCE6F0"/>
                </a:solidFill>
                <a:latin typeface="Calibri" pitchFamily="34" charset="0"/>
                <a:ea typeface="Calibri" pitchFamily="34" charset="-122"/>
                <a:cs typeface="Calibri" pitchFamily="34" charset="-120"/>
              </a:rPr>
              <a:t>All four agents are Strands agents running Amazon Nova 2 Lite on Amazon Bedrock. Each reaches only its own tools and the signed-in employee's records.</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097280" y="384048"/>
            <a:ext cx="10607040" cy="685800"/>
          </a:xfrm>
          <a:prstGeom prst="rect">
            <a:avLst/>
          </a:prstGeom>
          <a:noFill/>
          <a:ln/>
        </p:spPr>
        <p:txBody>
          <a:bodyPr wrap="square" lIns="0" tIns="0" rIns="0" bIns="0" rtlCol="0" anchor="ctr"/>
          <a:lstStyle/>
          <a:p>
            <a:pPr algn="l" indent="0" marL="0">
              <a:buNone/>
            </a:pPr>
            <a:r>
              <a:rPr lang="en-US" sz="3200" b="1" dirty="0">
                <a:solidFill>
                  <a:srgbClr val="F4F8FC"/>
                </a:solidFill>
                <a:latin typeface="Calibri" pitchFamily="34" charset="0"/>
                <a:ea typeface="Calibri" pitchFamily="34" charset="-122"/>
                <a:cs typeface="Calibri" pitchFamily="34" charset="-120"/>
              </a:rPr>
              <a:t>Built with 27 AWS tools and services</a:t>
            </a:r>
            <a:endParaRPr lang="en-US" sz="3200" dirty="0"/>
          </a:p>
        </p:txBody>
      </p:sp>
      <p:sp>
        <p:nvSpPr>
          <p:cNvPr id="3" name="Shape 1"/>
          <p:cNvSpPr/>
          <p:nvPr/>
        </p:nvSpPr>
        <p:spPr>
          <a:xfrm>
            <a:off x="548640" y="1325880"/>
            <a:ext cx="3575304" cy="2286000"/>
          </a:xfrm>
          <a:prstGeom prst="roundRect">
            <a:avLst>
              <a:gd name="adj" fmla="val 56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4" name="Shape 2"/>
          <p:cNvSpPr/>
          <p:nvPr/>
        </p:nvSpPr>
        <p:spPr>
          <a:xfrm>
            <a:off x="749808" y="1508760"/>
            <a:ext cx="457200" cy="457200"/>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45000"/>
              </a:srgbClr>
            </a:outerShdw>
          </a:effectLst>
        </p:spPr>
      </p:sp>
      <p:pic>
        <p:nvPicPr>
          <p:cNvPr id="5" name="Image 0" descr="preencoded.png">    </p:cNvPr>
          <p:cNvPicPr>
            <a:picLocks noChangeAspect="1"/>
          </p:cNvPicPr>
          <p:nvPr/>
        </p:nvPicPr>
        <p:blipFill>
          <a:blip r:embed="rId1"/>
          <a:stretch>
            <a:fillRect/>
          </a:stretch>
        </p:blipFill>
        <p:spPr>
          <a:xfrm>
            <a:off x="868680" y="1627632"/>
            <a:ext cx="219456" cy="219456"/>
          </a:xfrm>
          <a:prstGeom prst="rect">
            <a:avLst/>
          </a:prstGeom>
        </p:spPr>
      </p:pic>
      <p:sp>
        <p:nvSpPr>
          <p:cNvPr id="6" name="Text 3"/>
          <p:cNvSpPr txBox="1"/>
          <p:nvPr/>
        </p:nvSpPr>
        <p:spPr>
          <a:xfrm>
            <a:off x="1325880" y="1508760"/>
            <a:ext cx="2660904" cy="457200"/>
          </a:xfrm>
          <a:prstGeom prst="rect">
            <a:avLst/>
          </a:prstGeom>
          <a:noFill/>
          <a:ln/>
        </p:spPr>
        <p:txBody>
          <a:bodyPr wrap="square" lIns="0" tIns="0" rIns="0" bIns="0" rtlCol="0" anchor="ctr"/>
          <a:lstStyle/>
          <a:p>
            <a:pPr indent="0" marL="0">
              <a:buNone/>
            </a:pPr>
            <a:r>
              <a:rPr lang="en-US" sz="1100" b="1" spc="200" kern="0" dirty="0">
                <a:solidFill>
                  <a:srgbClr val="5CE6B0"/>
                </a:solidFill>
                <a:latin typeface="Calibri" pitchFamily="34" charset="0"/>
                <a:ea typeface="Calibri" pitchFamily="34" charset="-122"/>
                <a:cs typeface="Calibri" pitchFamily="34" charset="-120"/>
              </a:rPr>
              <a:t>AI AND AGENTS</a:t>
            </a:r>
            <a:endParaRPr lang="en-US" sz="1100" dirty="0"/>
          </a:p>
        </p:txBody>
      </p:sp>
      <p:sp>
        <p:nvSpPr>
          <p:cNvPr id="7" name="Shape 4"/>
          <p:cNvSpPr/>
          <p:nvPr/>
        </p:nvSpPr>
        <p:spPr>
          <a:xfrm>
            <a:off x="749808" y="2075688"/>
            <a:ext cx="1208837" cy="301752"/>
          </a:xfrm>
          <a:prstGeom prst="roundRect">
            <a:avLst>
              <a:gd name="adj" fmla="val 50000"/>
            </a:avLst>
          </a:prstGeom>
          <a:solidFill>
            <a:srgbClr val="5CE6B0">
              <a:alpha val="12000"/>
            </a:srgbClr>
          </a:solidFill>
          <a:ln w="9525">
            <a:solidFill>
              <a:srgbClr val="5CE6B0">
                <a:alpha val="60000"/>
              </a:srgbClr>
            </a:solidFill>
            <a:prstDash val="solid"/>
          </a:ln>
        </p:spPr>
      </p:sp>
      <p:sp>
        <p:nvSpPr>
          <p:cNvPr id="8" name="Text 5"/>
          <p:cNvSpPr txBox="1"/>
          <p:nvPr/>
        </p:nvSpPr>
        <p:spPr>
          <a:xfrm>
            <a:off x="749808" y="2075688"/>
            <a:ext cx="1208837"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Bedrock</a:t>
            </a:r>
            <a:endParaRPr lang="en-US" sz="1100" dirty="0"/>
          </a:p>
        </p:txBody>
      </p:sp>
      <p:sp>
        <p:nvSpPr>
          <p:cNvPr id="9" name="Shape 6"/>
          <p:cNvSpPr/>
          <p:nvPr/>
        </p:nvSpPr>
        <p:spPr>
          <a:xfrm>
            <a:off x="2040941" y="2075688"/>
            <a:ext cx="1475842" cy="301752"/>
          </a:xfrm>
          <a:prstGeom prst="roundRect">
            <a:avLst>
              <a:gd name="adj" fmla="val 50000"/>
            </a:avLst>
          </a:prstGeom>
          <a:solidFill>
            <a:srgbClr val="5CE6B0">
              <a:alpha val="12000"/>
            </a:srgbClr>
          </a:solidFill>
          <a:ln w="9525">
            <a:solidFill>
              <a:srgbClr val="5CE6B0">
                <a:alpha val="60000"/>
              </a:srgbClr>
            </a:solidFill>
            <a:prstDash val="solid"/>
          </a:ln>
        </p:spPr>
      </p:sp>
      <p:sp>
        <p:nvSpPr>
          <p:cNvPr id="10" name="Text 7"/>
          <p:cNvSpPr txBox="1"/>
          <p:nvPr/>
        </p:nvSpPr>
        <p:spPr>
          <a:xfrm>
            <a:off x="2040941" y="2075688"/>
            <a:ext cx="147584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Nova 2 Lite</a:t>
            </a:r>
            <a:endParaRPr lang="en-US" sz="1100" dirty="0"/>
          </a:p>
        </p:txBody>
      </p:sp>
      <p:sp>
        <p:nvSpPr>
          <p:cNvPr id="11" name="Shape 8"/>
          <p:cNvSpPr/>
          <p:nvPr/>
        </p:nvSpPr>
        <p:spPr>
          <a:xfrm>
            <a:off x="749808" y="2450592"/>
            <a:ext cx="1809598" cy="301752"/>
          </a:xfrm>
          <a:prstGeom prst="roundRect">
            <a:avLst>
              <a:gd name="adj" fmla="val 50000"/>
            </a:avLst>
          </a:prstGeom>
          <a:solidFill>
            <a:srgbClr val="5CE6B0">
              <a:alpha val="12000"/>
            </a:srgbClr>
          </a:solidFill>
          <a:ln w="9525">
            <a:solidFill>
              <a:srgbClr val="5CE6B0">
                <a:alpha val="60000"/>
              </a:srgbClr>
            </a:solidFill>
            <a:prstDash val="solid"/>
          </a:ln>
        </p:spPr>
      </p:sp>
      <p:sp>
        <p:nvSpPr>
          <p:cNvPr id="12" name="Text 9"/>
          <p:cNvSpPr txBox="1"/>
          <p:nvPr/>
        </p:nvSpPr>
        <p:spPr>
          <a:xfrm>
            <a:off x="749808" y="2450592"/>
            <a:ext cx="1809598"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Bedrock Knowledge Bases</a:t>
            </a:r>
            <a:endParaRPr lang="en-US" sz="1100" dirty="0"/>
          </a:p>
        </p:txBody>
      </p:sp>
      <p:sp>
        <p:nvSpPr>
          <p:cNvPr id="13" name="Shape 10"/>
          <p:cNvSpPr/>
          <p:nvPr/>
        </p:nvSpPr>
        <p:spPr>
          <a:xfrm>
            <a:off x="749808" y="2825496"/>
            <a:ext cx="1876349" cy="301752"/>
          </a:xfrm>
          <a:prstGeom prst="roundRect">
            <a:avLst>
              <a:gd name="adj" fmla="val 50000"/>
            </a:avLst>
          </a:prstGeom>
          <a:solidFill>
            <a:srgbClr val="5CE6B0">
              <a:alpha val="12000"/>
            </a:srgbClr>
          </a:solidFill>
          <a:ln w="9525">
            <a:solidFill>
              <a:srgbClr val="5CE6B0">
                <a:alpha val="60000"/>
              </a:srgbClr>
            </a:solidFill>
            <a:prstDash val="solid"/>
          </a:ln>
        </p:spPr>
      </p:sp>
      <p:sp>
        <p:nvSpPr>
          <p:cNvPr id="14" name="Text 11"/>
          <p:cNvSpPr txBox="1"/>
          <p:nvPr/>
        </p:nvSpPr>
        <p:spPr>
          <a:xfrm>
            <a:off x="749808" y="2825496"/>
            <a:ext cx="1876349"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Titan Text Embeddings V2</a:t>
            </a:r>
            <a:endParaRPr lang="en-US" sz="1100" dirty="0"/>
          </a:p>
        </p:txBody>
      </p:sp>
      <p:sp>
        <p:nvSpPr>
          <p:cNvPr id="15" name="Shape 12"/>
          <p:cNvSpPr/>
          <p:nvPr/>
        </p:nvSpPr>
        <p:spPr>
          <a:xfrm>
            <a:off x="2708453" y="2825496"/>
            <a:ext cx="1208837" cy="301752"/>
          </a:xfrm>
          <a:prstGeom prst="roundRect">
            <a:avLst>
              <a:gd name="adj" fmla="val 50000"/>
            </a:avLst>
          </a:prstGeom>
          <a:solidFill>
            <a:srgbClr val="5CE6B0">
              <a:alpha val="12000"/>
            </a:srgbClr>
          </a:solidFill>
          <a:ln w="9525">
            <a:solidFill>
              <a:srgbClr val="5CE6B0">
                <a:alpha val="60000"/>
              </a:srgbClr>
            </a:solidFill>
            <a:prstDash val="solid"/>
          </a:ln>
        </p:spPr>
      </p:sp>
      <p:sp>
        <p:nvSpPr>
          <p:cNvPr id="16" name="Text 13"/>
          <p:cNvSpPr txBox="1"/>
          <p:nvPr/>
        </p:nvSpPr>
        <p:spPr>
          <a:xfrm>
            <a:off x="2708453" y="2825496"/>
            <a:ext cx="1208837"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Strands Agents</a:t>
            </a:r>
            <a:endParaRPr lang="en-US" sz="1100" dirty="0"/>
          </a:p>
        </p:txBody>
      </p:sp>
      <p:sp>
        <p:nvSpPr>
          <p:cNvPr id="17" name="Shape 14"/>
          <p:cNvSpPr/>
          <p:nvPr/>
        </p:nvSpPr>
        <p:spPr>
          <a:xfrm>
            <a:off x="4306824" y="1325880"/>
            <a:ext cx="3575304" cy="2286000"/>
          </a:xfrm>
          <a:prstGeom prst="roundRect">
            <a:avLst>
              <a:gd name="adj" fmla="val 56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8" name="Shape 15"/>
          <p:cNvSpPr/>
          <p:nvPr/>
        </p:nvSpPr>
        <p:spPr>
          <a:xfrm>
            <a:off x="4507992" y="1508760"/>
            <a:ext cx="457200" cy="457200"/>
          </a:xfrm>
          <a:prstGeom prst="ellipse">
            <a:avLst/>
          </a:prstGeom>
          <a:solidFill>
            <a:srgbClr val="132842"/>
          </a:solidFill>
          <a:ln w="15875">
            <a:solidFill>
              <a:srgbClr val="F2C46D"/>
            </a:solidFill>
            <a:prstDash val="solid"/>
          </a:ln>
          <a:effectLst>
            <a:outerShdw sx="100000" sy="100000" kx="0" ky="0" algn="bl" rotWithShape="0" blurRad="127000" dist="50800" dir="5400000">
              <a:srgbClr val="F2C46D">
                <a:alpha val="45000"/>
              </a:srgbClr>
            </a:outerShdw>
          </a:effectLst>
        </p:spPr>
      </p:sp>
      <p:pic>
        <p:nvPicPr>
          <p:cNvPr id="19" name="Image 1" descr="preencoded.png">    </p:cNvPr>
          <p:cNvPicPr>
            <a:picLocks noChangeAspect="1"/>
          </p:cNvPicPr>
          <p:nvPr/>
        </p:nvPicPr>
        <p:blipFill>
          <a:blip r:embed="rId2"/>
          <a:stretch>
            <a:fillRect/>
          </a:stretch>
        </p:blipFill>
        <p:spPr>
          <a:xfrm>
            <a:off x="4626864" y="1627632"/>
            <a:ext cx="219456" cy="219456"/>
          </a:xfrm>
          <a:prstGeom prst="rect">
            <a:avLst/>
          </a:prstGeom>
        </p:spPr>
      </p:pic>
      <p:sp>
        <p:nvSpPr>
          <p:cNvPr id="20" name="Text 16"/>
          <p:cNvSpPr txBox="1"/>
          <p:nvPr/>
        </p:nvSpPr>
        <p:spPr>
          <a:xfrm>
            <a:off x="5084064" y="1508760"/>
            <a:ext cx="2660904" cy="457200"/>
          </a:xfrm>
          <a:prstGeom prst="rect">
            <a:avLst/>
          </a:prstGeom>
          <a:noFill/>
          <a:ln/>
        </p:spPr>
        <p:txBody>
          <a:bodyPr wrap="square" lIns="0" tIns="0" rIns="0" bIns="0" rtlCol="0" anchor="ctr"/>
          <a:lstStyle/>
          <a:p>
            <a:pPr indent="0" marL="0">
              <a:buNone/>
            </a:pPr>
            <a:r>
              <a:rPr lang="en-US" sz="1100" b="1" spc="200" kern="0" dirty="0">
                <a:solidFill>
                  <a:srgbClr val="F2C46D"/>
                </a:solidFill>
                <a:latin typeface="Calibri" pitchFamily="34" charset="0"/>
                <a:ea typeface="Calibri" pitchFamily="34" charset="-122"/>
                <a:cs typeface="Calibri" pitchFamily="34" charset="-120"/>
              </a:rPr>
              <a:t>DATA AND STORAGE</a:t>
            </a:r>
            <a:endParaRPr lang="en-US" sz="1100" dirty="0"/>
          </a:p>
        </p:txBody>
      </p:sp>
      <p:sp>
        <p:nvSpPr>
          <p:cNvPr id="21" name="Shape 17"/>
          <p:cNvSpPr/>
          <p:nvPr/>
        </p:nvSpPr>
        <p:spPr>
          <a:xfrm>
            <a:off x="4507992" y="2075688"/>
            <a:ext cx="1275588" cy="301752"/>
          </a:xfrm>
          <a:prstGeom prst="roundRect">
            <a:avLst>
              <a:gd name="adj" fmla="val 50000"/>
            </a:avLst>
          </a:prstGeom>
          <a:solidFill>
            <a:srgbClr val="F2C46D">
              <a:alpha val="12000"/>
            </a:srgbClr>
          </a:solidFill>
          <a:ln w="9525">
            <a:solidFill>
              <a:srgbClr val="F2C46D">
                <a:alpha val="60000"/>
              </a:srgbClr>
            </a:solidFill>
            <a:prstDash val="solid"/>
          </a:ln>
        </p:spPr>
      </p:sp>
      <p:sp>
        <p:nvSpPr>
          <p:cNvPr id="22" name="Text 18"/>
          <p:cNvSpPr txBox="1"/>
          <p:nvPr/>
        </p:nvSpPr>
        <p:spPr>
          <a:xfrm>
            <a:off x="4507992" y="2075688"/>
            <a:ext cx="1275588"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DynamoDB</a:t>
            </a:r>
            <a:endParaRPr lang="en-US" sz="1100" dirty="0"/>
          </a:p>
        </p:txBody>
      </p:sp>
      <p:sp>
        <p:nvSpPr>
          <p:cNvPr id="23" name="Shape 19"/>
          <p:cNvSpPr/>
          <p:nvPr/>
        </p:nvSpPr>
        <p:spPr>
          <a:xfrm>
            <a:off x="5865876" y="2075688"/>
            <a:ext cx="875081" cy="301752"/>
          </a:xfrm>
          <a:prstGeom prst="roundRect">
            <a:avLst>
              <a:gd name="adj" fmla="val 50000"/>
            </a:avLst>
          </a:prstGeom>
          <a:solidFill>
            <a:srgbClr val="F2C46D">
              <a:alpha val="12000"/>
            </a:srgbClr>
          </a:solidFill>
          <a:ln w="9525">
            <a:solidFill>
              <a:srgbClr val="F2C46D">
                <a:alpha val="60000"/>
              </a:srgbClr>
            </a:solidFill>
            <a:prstDash val="solid"/>
          </a:ln>
        </p:spPr>
      </p:sp>
      <p:sp>
        <p:nvSpPr>
          <p:cNvPr id="24" name="Text 20"/>
          <p:cNvSpPr txBox="1"/>
          <p:nvPr/>
        </p:nvSpPr>
        <p:spPr>
          <a:xfrm>
            <a:off x="5865876" y="2075688"/>
            <a:ext cx="875081"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S3</a:t>
            </a:r>
            <a:endParaRPr lang="en-US" sz="1100" dirty="0"/>
          </a:p>
        </p:txBody>
      </p:sp>
      <p:sp>
        <p:nvSpPr>
          <p:cNvPr id="25" name="Shape 21"/>
          <p:cNvSpPr/>
          <p:nvPr/>
        </p:nvSpPr>
        <p:spPr>
          <a:xfrm>
            <a:off x="4507992" y="2450592"/>
            <a:ext cx="1409090" cy="301752"/>
          </a:xfrm>
          <a:prstGeom prst="roundRect">
            <a:avLst>
              <a:gd name="adj" fmla="val 50000"/>
            </a:avLst>
          </a:prstGeom>
          <a:solidFill>
            <a:srgbClr val="F2C46D">
              <a:alpha val="12000"/>
            </a:srgbClr>
          </a:solidFill>
          <a:ln w="9525">
            <a:solidFill>
              <a:srgbClr val="F2C46D">
                <a:alpha val="60000"/>
              </a:srgbClr>
            </a:solidFill>
            <a:prstDash val="solid"/>
          </a:ln>
        </p:spPr>
      </p:sp>
      <p:sp>
        <p:nvSpPr>
          <p:cNvPr id="26" name="Text 22"/>
          <p:cNvSpPr txBox="1"/>
          <p:nvPr/>
        </p:nvSpPr>
        <p:spPr>
          <a:xfrm>
            <a:off x="4507992" y="2450592"/>
            <a:ext cx="1409090"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S3 Vectors</a:t>
            </a:r>
            <a:endParaRPr lang="en-US" sz="1100" dirty="0"/>
          </a:p>
        </p:txBody>
      </p:sp>
      <p:sp>
        <p:nvSpPr>
          <p:cNvPr id="27" name="Shape 23"/>
          <p:cNvSpPr/>
          <p:nvPr/>
        </p:nvSpPr>
        <p:spPr>
          <a:xfrm>
            <a:off x="8065008" y="1325880"/>
            <a:ext cx="3575304" cy="2286000"/>
          </a:xfrm>
          <a:prstGeom prst="roundRect">
            <a:avLst>
              <a:gd name="adj" fmla="val 56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28" name="Shape 24"/>
          <p:cNvSpPr/>
          <p:nvPr/>
        </p:nvSpPr>
        <p:spPr>
          <a:xfrm>
            <a:off x="8266176" y="1508760"/>
            <a:ext cx="457200" cy="457200"/>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29" name="Image 2" descr="preencoded.png">    </p:cNvPr>
          <p:cNvPicPr>
            <a:picLocks noChangeAspect="1"/>
          </p:cNvPicPr>
          <p:nvPr/>
        </p:nvPicPr>
        <p:blipFill>
          <a:blip r:embed="rId3"/>
          <a:stretch>
            <a:fillRect/>
          </a:stretch>
        </p:blipFill>
        <p:spPr>
          <a:xfrm>
            <a:off x="8385048" y="1627632"/>
            <a:ext cx="219456" cy="219456"/>
          </a:xfrm>
          <a:prstGeom prst="rect">
            <a:avLst/>
          </a:prstGeom>
        </p:spPr>
      </p:pic>
      <p:sp>
        <p:nvSpPr>
          <p:cNvPr id="30" name="Text 25"/>
          <p:cNvSpPr txBox="1"/>
          <p:nvPr/>
        </p:nvSpPr>
        <p:spPr>
          <a:xfrm>
            <a:off x="8842248" y="1508760"/>
            <a:ext cx="2660904" cy="457200"/>
          </a:xfrm>
          <a:prstGeom prst="rect">
            <a:avLst/>
          </a:prstGeom>
          <a:noFill/>
          <a:ln/>
        </p:spPr>
        <p:txBody>
          <a:bodyPr wrap="square" lIns="0" tIns="0" rIns="0" bIns="0" rtlCol="0" anchor="ctr"/>
          <a:lstStyle/>
          <a:p>
            <a:pPr indent="0" marL="0">
              <a:buNone/>
            </a:pPr>
            <a:r>
              <a:rPr lang="en-US" sz="1100" b="1" spc="200" kern="0" dirty="0">
                <a:solidFill>
                  <a:srgbClr val="8EE3F5"/>
                </a:solidFill>
                <a:latin typeface="Calibri" pitchFamily="34" charset="0"/>
                <a:ea typeface="Calibri" pitchFamily="34" charset="-122"/>
                <a:cs typeface="Calibri" pitchFamily="34" charset="-120"/>
              </a:rPr>
              <a:t>HOSTING</a:t>
            </a:r>
            <a:endParaRPr lang="en-US" sz="1100" dirty="0"/>
          </a:p>
        </p:txBody>
      </p:sp>
      <p:sp>
        <p:nvSpPr>
          <p:cNvPr id="31" name="Shape 26"/>
          <p:cNvSpPr/>
          <p:nvPr/>
        </p:nvSpPr>
        <p:spPr>
          <a:xfrm>
            <a:off x="8266176" y="2075688"/>
            <a:ext cx="941832"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32" name="Text 27"/>
          <p:cNvSpPr txBox="1"/>
          <p:nvPr/>
        </p:nvSpPr>
        <p:spPr>
          <a:xfrm>
            <a:off x="8266176" y="2075688"/>
            <a:ext cx="94183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EC2</a:t>
            </a:r>
            <a:endParaRPr lang="en-US" sz="1100" dirty="0"/>
          </a:p>
        </p:txBody>
      </p:sp>
      <p:sp>
        <p:nvSpPr>
          <p:cNvPr id="33" name="Shape 28"/>
          <p:cNvSpPr/>
          <p:nvPr/>
        </p:nvSpPr>
        <p:spPr>
          <a:xfrm>
            <a:off x="9290304" y="2075688"/>
            <a:ext cx="1409090"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34" name="Text 29"/>
          <p:cNvSpPr txBox="1"/>
          <p:nvPr/>
        </p:nvSpPr>
        <p:spPr>
          <a:xfrm>
            <a:off x="9290304" y="2075688"/>
            <a:ext cx="1409090"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Linux 2023</a:t>
            </a:r>
            <a:endParaRPr lang="en-US" sz="1100" dirty="0"/>
          </a:p>
        </p:txBody>
      </p:sp>
      <p:sp>
        <p:nvSpPr>
          <p:cNvPr id="35" name="Shape 30"/>
          <p:cNvSpPr/>
          <p:nvPr/>
        </p:nvSpPr>
        <p:spPr>
          <a:xfrm>
            <a:off x="8266176" y="2450592"/>
            <a:ext cx="941832"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36" name="Text 31"/>
          <p:cNvSpPr txBox="1"/>
          <p:nvPr/>
        </p:nvSpPr>
        <p:spPr>
          <a:xfrm>
            <a:off x="8266176" y="2450592"/>
            <a:ext cx="94183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EBS</a:t>
            </a:r>
            <a:endParaRPr lang="en-US" sz="1100" dirty="0"/>
          </a:p>
        </p:txBody>
      </p:sp>
      <p:sp>
        <p:nvSpPr>
          <p:cNvPr id="37" name="Shape 32"/>
          <p:cNvSpPr/>
          <p:nvPr/>
        </p:nvSpPr>
        <p:spPr>
          <a:xfrm>
            <a:off x="9290304" y="2450592"/>
            <a:ext cx="941832"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38" name="Text 33"/>
          <p:cNvSpPr txBox="1"/>
          <p:nvPr/>
        </p:nvSpPr>
        <p:spPr>
          <a:xfrm>
            <a:off x="9290304" y="2450592"/>
            <a:ext cx="94183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Elastic IP</a:t>
            </a:r>
            <a:endParaRPr lang="en-US" sz="1100" dirty="0"/>
          </a:p>
        </p:txBody>
      </p:sp>
      <p:sp>
        <p:nvSpPr>
          <p:cNvPr id="39" name="Shape 34"/>
          <p:cNvSpPr/>
          <p:nvPr/>
        </p:nvSpPr>
        <p:spPr>
          <a:xfrm>
            <a:off x="8266176" y="2825496"/>
            <a:ext cx="1475842"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40" name="Text 35"/>
          <p:cNvSpPr txBox="1"/>
          <p:nvPr/>
        </p:nvSpPr>
        <p:spPr>
          <a:xfrm>
            <a:off x="8266176" y="2825496"/>
            <a:ext cx="147584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VPC security group</a:t>
            </a:r>
            <a:endParaRPr lang="en-US" sz="1100" dirty="0"/>
          </a:p>
        </p:txBody>
      </p:sp>
      <p:sp>
        <p:nvSpPr>
          <p:cNvPr id="41" name="Shape 36"/>
          <p:cNvSpPr/>
          <p:nvPr/>
        </p:nvSpPr>
        <p:spPr>
          <a:xfrm>
            <a:off x="548640" y="3794760"/>
            <a:ext cx="3575304" cy="2286000"/>
          </a:xfrm>
          <a:prstGeom prst="roundRect">
            <a:avLst>
              <a:gd name="adj" fmla="val 56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42" name="Shape 37"/>
          <p:cNvSpPr/>
          <p:nvPr/>
        </p:nvSpPr>
        <p:spPr>
          <a:xfrm>
            <a:off x="749808" y="3977640"/>
            <a:ext cx="457200" cy="457200"/>
          </a:xfrm>
          <a:prstGeom prst="ellipse">
            <a:avLst/>
          </a:prstGeom>
          <a:solidFill>
            <a:srgbClr val="132842"/>
          </a:solidFill>
          <a:ln w="15875">
            <a:solidFill>
              <a:srgbClr val="B7A4FF"/>
            </a:solidFill>
            <a:prstDash val="solid"/>
          </a:ln>
          <a:effectLst>
            <a:outerShdw sx="100000" sy="100000" kx="0" ky="0" algn="bl" rotWithShape="0" blurRad="127000" dist="50800" dir="5400000">
              <a:srgbClr val="B7A4FF">
                <a:alpha val="45000"/>
              </a:srgbClr>
            </a:outerShdw>
          </a:effectLst>
        </p:spPr>
      </p:sp>
      <p:pic>
        <p:nvPicPr>
          <p:cNvPr id="43" name="Image 3" descr="preencoded.png">    </p:cNvPr>
          <p:cNvPicPr>
            <a:picLocks noChangeAspect="1"/>
          </p:cNvPicPr>
          <p:nvPr/>
        </p:nvPicPr>
        <p:blipFill>
          <a:blip r:embed="rId4"/>
          <a:stretch>
            <a:fillRect/>
          </a:stretch>
        </p:blipFill>
        <p:spPr>
          <a:xfrm>
            <a:off x="868680" y="4096512"/>
            <a:ext cx="219456" cy="219456"/>
          </a:xfrm>
          <a:prstGeom prst="rect">
            <a:avLst/>
          </a:prstGeom>
        </p:spPr>
      </p:pic>
      <p:sp>
        <p:nvSpPr>
          <p:cNvPr id="44" name="Text 38"/>
          <p:cNvSpPr txBox="1"/>
          <p:nvPr/>
        </p:nvSpPr>
        <p:spPr>
          <a:xfrm>
            <a:off x="1325880" y="3977640"/>
            <a:ext cx="2660904" cy="457200"/>
          </a:xfrm>
          <a:prstGeom prst="rect">
            <a:avLst/>
          </a:prstGeom>
          <a:noFill/>
          <a:ln/>
        </p:spPr>
        <p:txBody>
          <a:bodyPr wrap="square" lIns="0" tIns="0" rIns="0" bIns="0" rtlCol="0" anchor="ctr"/>
          <a:lstStyle/>
          <a:p>
            <a:pPr indent="0" marL="0">
              <a:buNone/>
            </a:pPr>
            <a:r>
              <a:rPr lang="en-US" sz="1100" b="1" spc="200" kern="0" dirty="0">
                <a:solidFill>
                  <a:srgbClr val="B7A4FF"/>
                </a:solidFill>
                <a:latin typeface="Calibri" pitchFamily="34" charset="0"/>
                <a:ea typeface="Calibri" pitchFamily="34" charset="-122"/>
                <a:cs typeface="Calibri" pitchFamily="34" charset="-120"/>
              </a:rPr>
              <a:t>OPERATIONS, FROM OUR LAST PROJECT</a:t>
            </a:r>
            <a:endParaRPr lang="en-US" sz="1100" dirty="0"/>
          </a:p>
        </p:txBody>
      </p:sp>
      <p:sp>
        <p:nvSpPr>
          <p:cNvPr id="45" name="Shape 39"/>
          <p:cNvSpPr/>
          <p:nvPr/>
        </p:nvSpPr>
        <p:spPr>
          <a:xfrm>
            <a:off x="749808" y="4544568"/>
            <a:ext cx="1676095" cy="301752"/>
          </a:xfrm>
          <a:prstGeom prst="roundRect">
            <a:avLst>
              <a:gd name="adj" fmla="val 50000"/>
            </a:avLst>
          </a:prstGeom>
          <a:solidFill>
            <a:srgbClr val="B7A4FF">
              <a:alpha val="12000"/>
            </a:srgbClr>
          </a:solidFill>
          <a:ln w="9525">
            <a:solidFill>
              <a:srgbClr val="B7A4FF">
                <a:alpha val="60000"/>
              </a:srgbClr>
            </a:solidFill>
            <a:prstDash val="solid"/>
          </a:ln>
        </p:spPr>
      </p:sp>
      <p:sp>
        <p:nvSpPr>
          <p:cNvPr id="46" name="Text 40"/>
          <p:cNvSpPr txBox="1"/>
          <p:nvPr/>
        </p:nvSpPr>
        <p:spPr>
          <a:xfrm>
            <a:off x="749808" y="4544568"/>
            <a:ext cx="1676095"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EventBridge Scheduler</a:t>
            </a:r>
            <a:endParaRPr lang="en-US" sz="1100" dirty="0"/>
          </a:p>
        </p:txBody>
      </p:sp>
      <p:sp>
        <p:nvSpPr>
          <p:cNvPr id="47" name="Shape 41"/>
          <p:cNvSpPr/>
          <p:nvPr/>
        </p:nvSpPr>
        <p:spPr>
          <a:xfrm>
            <a:off x="2508199" y="4544568"/>
            <a:ext cx="941832" cy="301752"/>
          </a:xfrm>
          <a:prstGeom prst="roundRect">
            <a:avLst>
              <a:gd name="adj" fmla="val 50000"/>
            </a:avLst>
          </a:prstGeom>
          <a:solidFill>
            <a:srgbClr val="B7A4FF">
              <a:alpha val="12000"/>
            </a:srgbClr>
          </a:solidFill>
          <a:ln w="9525">
            <a:solidFill>
              <a:srgbClr val="B7A4FF">
                <a:alpha val="60000"/>
              </a:srgbClr>
            </a:solidFill>
            <a:prstDash val="solid"/>
          </a:ln>
        </p:spPr>
      </p:sp>
      <p:sp>
        <p:nvSpPr>
          <p:cNvPr id="48" name="Text 42"/>
          <p:cNvSpPr txBox="1"/>
          <p:nvPr/>
        </p:nvSpPr>
        <p:spPr>
          <a:xfrm>
            <a:off x="2508199" y="4544568"/>
            <a:ext cx="94183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AWS Lambda</a:t>
            </a:r>
            <a:endParaRPr lang="en-US" sz="1100" dirty="0"/>
          </a:p>
        </p:txBody>
      </p:sp>
      <p:sp>
        <p:nvSpPr>
          <p:cNvPr id="49" name="Shape 43"/>
          <p:cNvSpPr/>
          <p:nvPr/>
        </p:nvSpPr>
        <p:spPr>
          <a:xfrm>
            <a:off x="749808" y="4919472"/>
            <a:ext cx="941832" cy="301752"/>
          </a:xfrm>
          <a:prstGeom prst="roundRect">
            <a:avLst>
              <a:gd name="adj" fmla="val 50000"/>
            </a:avLst>
          </a:prstGeom>
          <a:solidFill>
            <a:srgbClr val="B7A4FF">
              <a:alpha val="12000"/>
            </a:srgbClr>
          </a:solidFill>
          <a:ln w="9525">
            <a:solidFill>
              <a:srgbClr val="B7A4FF">
                <a:alpha val="60000"/>
              </a:srgbClr>
            </a:solidFill>
            <a:prstDash val="solid"/>
          </a:ln>
        </p:spPr>
      </p:sp>
      <p:sp>
        <p:nvSpPr>
          <p:cNvPr id="50" name="Text 44"/>
          <p:cNvSpPr txBox="1"/>
          <p:nvPr/>
        </p:nvSpPr>
        <p:spPr>
          <a:xfrm>
            <a:off x="749808" y="4919472"/>
            <a:ext cx="94183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SNS</a:t>
            </a:r>
            <a:endParaRPr lang="en-US" sz="1100" dirty="0"/>
          </a:p>
        </p:txBody>
      </p:sp>
      <p:sp>
        <p:nvSpPr>
          <p:cNvPr id="51" name="Shape 45"/>
          <p:cNvSpPr/>
          <p:nvPr/>
        </p:nvSpPr>
        <p:spPr>
          <a:xfrm>
            <a:off x="1773936" y="4919472"/>
            <a:ext cx="941832" cy="301752"/>
          </a:xfrm>
          <a:prstGeom prst="roundRect">
            <a:avLst>
              <a:gd name="adj" fmla="val 50000"/>
            </a:avLst>
          </a:prstGeom>
          <a:solidFill>
            <a:srgbClr val="B7A4FF">
              <a:alpha val="12000"/>
            </a:srgbClr>
          </a:solidFill>
          <a:ln w="9525">
            <a:solidFill>
              <a:srgbClr val="B7A4FF">
                <a:alpha val="60000"/>
              </a:srgbClr>
            </a:solidFill>
            <a:prstDash val="solid"/>
          </a:ln>
        </p:spPr>
      </p:sp>
      <p:sp>
        <p:nvSpPr>
          <p:cNvPr id="52" name="Text 46"/>
          <p:cNvSpPr txBox="1"/>
          <p:nvPr/>
        </p:nvSpPr>
        <p:spPr>
          <a:xfrm>
            <a:off x="1773936" y="4919472"/>
            <a:ext cx="94183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Amazon SQS</a:t>
            </a:r>
            <a:endParaRPr lang="en-US" sz="1100" dirty="0"/>
          </a:p>
        </p:txBody>
      </p:sp>
      <p:sp>
        <p:nvSpPr>
          <p:cNvPr id="53" name="Shape 47"/>
          <p:cNvSpPr/>
          <p:nvPr/>
        </p:nvSpPr>
        <p:spPr>
          <a:xfrm>
            <a:off x="749808" y="5294376"/>
            <a:ext cx="1275588" cy="301752"/>
          </a:xfrm>
          <a:prstGeom prst="roundRect">
            <a:avLst>
              <a:gd name="adj" fmla="val 50000"/>
            </a:avLst>
          </a:prstGeom>
          <a:solidFill>
            <a:srgbClr val="B7A4FF">
              <a:alpha val="12000"/>
            </a:srgbClr>
          </a:solidFill>
          <a:ln w="9525">
            <a:solidFill>
              <a:srgbClr val="B7A4FF">
                <a:alpha val="60000"/>
              </a:srgbClr>
            </a:solidFill>
            <a:prstDash val="solid"/>
          </a:ln>
        </p:spPr>
      </p:sp>
      <p:sp>
        <p:nvSpPr>
          <p:cNvPr id="54" name="Text 48"/>
          <p:cNvSpPr txBox="1"/>
          <p:nvPr/>
        </p:nvSpPr>
        <p:spPr>
          <a:xfrm>
            <a:off x="749808" y="5294376"/>
            <a:ext cx="1275588"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CloudWatch Logs</a:t>
            </a:r>
            <a:endParaRPr lang="en-US" sz="1100" dirty="0"/>
          </a:p>
        </p:txBody>
      </p:sp>
      <p:sp>
        <p:nvSpPr>
          <p:cNvPr id="55" name="Shape 49"/>
          <p:cNvSpPr/>
          <p:nvPr/>
        </p:nvSpPr>
        <p:spPr>
          <a:xfrm>
            <a:off x="2107692" y="5294376"/>
            <a:ext cx="1742846" cy="301752"/>
          </a:xfrm>
          <a:prstGeom prst="roundRect">
            <a:avLst>
              <a:gd name="adj" fmla="val 50000"/>
            </a:avLst>
          </a:prstGeom>
          <a:solidFill>
            <a:srgbClr val="B7A4FF">
              <a:alpha val="12000"/>
            </a:srgbClr>
          </a:solidFill>
          <a:ln w="9525">
            <a:solidFill>
              <a:srgbClr val="B7A4FF">
                <a:alpha val="60000"/>
              </a:srgbClr>
            </a:solidFill>
            <a:prstDash val="solid"/>
          </a:ln>
        </p:spPr>
      </p:sp>
      <p:sp>
        <p:nvSpPr>
          <p:cNvPr id="56" name="Text 50"/>
          <p:cNvSpPr txBox="1"/>
          <p:nvPr/>
        </p:nvSpPr>
        <p:spPr>
          <a:xfrm>
            <a:off x="2107692" y="5294376"/>
            <a:ext cx="1742846"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CloudFormation and SAM</a:t>
            </a:r>
            <a:endParaRPr lang="en-US" sz="1100" dirty="0"/>
          </a:p>
        </p:txBody>
      </p:sp>
      <p:sp>
        <p:nvSpPr>
          <p:cNvPr id="57" name="Shape 51"/>
          <p:cNvSpPr/>
          <p:nvPr/>
        </p:nvSpPr>
        <p:spPr>
          <a:xfrm>
            <a:off x="749808" y="5669280"/>
            <a:ext cx="1008583" cy="301752"/>
          </a:xfrm>
          <a:prstGeom prst="roundRect">
            <a:avLst>
              <a:gd name="adj" fmla="val 50000"/>
            </a:avLst>
          </a:prstGeom>
          <a:solidFill>
            <a:srgbClr val="B7A4FF">
              <a:alpha val="12000"/>
            </a:srgbClr>
          </a:solidFill>
          <a:ln w="9525">
            <a:solidFill>
              <a:srgbClr val="B7A4FF">
                <a:alpha val="60000"/>
              </a:srgbClr>
            </a:solidFill>
            <a:prstDash val="solid"/>
          </a:ln>
        </p:spPr>
      </p:sp>
      <p:sp>
        <p:nvSpPr>
          <p:cNvPr id="58" name="Text 52"/>
          <p:cNvSpPr txBox="1"/>
          <p:nvPr/>
        </p:nvSpPr>
        <p:spPr>
          <a:xfrm>
            <a:off x="749808" y="5669280"/>
            <a:ext cx="1008583"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AWS Budgets</a:t>
            </a:r>
            <a:endParaRPr lang="en-US" sz="1100" dirty="0"/>
          </a:p>
        </p:txBody>
      </p:sp>
      <p:sp>
        <p:nvSpPr>
          <p:cNvPr id="59" name="Shape 53"/>
          <p:cNvSpPr/>
          <p:nvPr/>
        </p:nvSpPr>
        <p:spPr>
          <a:xfrm>
            <a:off x="4306824" y="3794760"/>
            <a:ext cx="3575304" cy="2286000"/>
          </a:xfrm>
          <a:prstGeom prst="roundRect">
            <a:avLst>
              <a:gd name="adj" fmla="val 56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60" name="Shape 54"/>
          <p:cNvSpPr/>
          <p:nvPr/>
        </p:nvSpPr>
        <p:spPr>
          <a:xfrm>
            <a:off x="4507992" y="3977640"/>
            <a:ext cx="457200" cy="457200"/>
          </a:xfrm>
          <a:prstGeom prst="ellipse">
            <a:avLst/>
          </a:prstGeom>
          <a:solidFill>
            <a:srgbClr val="132842"/>
          </a:solidFill>
          <a:ln w="15875">
            <a:solidFill>
              <a:srgbClr val="F59E8B"/>
            </a:solidFill>
            <a:prstDash val="solid"/>
          </a:ln>
          <a:effectLst>
            <a:outerShdw sx="100000" sy="100000" kx="0" ky="0" algn="bl" rotWithShape="0" blurRad="127000" dist="50800" dir="5400000">
              <a:srgbClr val="F59E8B">
                <a:alpha val="45000"/>
              </a:srgbClr>
            </a:outerShdw>
          </a:effectLst>
        </p:spPr>
      </p:sp>
      <p:pic>
        <p:nvPicPr>
          <p:cNvPr id="61" name="Image 4" descr="preencoded.png">    </p:cNvPr>
          <p:cNvPicPr>
            <a:picLocks noChangeAspect="1"/>
          </p:cNvPicPr>
          <p:nvPr/>
        </p:nvPicPr>
        <p:blipFill>
          <a:blip r:embed="rId5"/>
          <a:stretch>
            <a:fillRect/>
          </a:stretch>
        </p:blipFill>
        <p:spPr>
          <a:xfrm>
            <a:off x="4626864" y="4096512"/>
            <a:ext cx="219456" cy="219456"/>
          </a:xfrm>
          <a:prstGeom prst="rect">
            <a:avLst/>
          </a:prstGeom>
        </p:spPr>
      </p:pic>
      <p:sp>
        <p:nvSpPr>
          <p:cNvPr id="62" name="Text 55"/>
          <p:cNvSpPr txBox="1"/>
          <p:nvPr/>
        </p:nvSpPr>
        <p:spPr>
          <a:xfrm>
            <a:off x="5084064" y="3977640"/>
            <a:ext cx="2660904" cy="457200"/>
          </a:xfrm>
          <a:prstGeom prst="rect">
            <a:avLst/>
          </a:prstGeom>
          <a:noFill/>
          <a:ln/>
        </p:spPr>
        <p:txBody>
          <a:bodyPr wrap="square" lIns="0" tIns="0" rIns="0" bIns="0" rtlCol="0" anchor="ctr"/>
          <a:lstStyle/>
          <a:p>
            <a:pPr indent="0" marL="0">
              <a:buNone/>
            </a:pPr>
            <a:r>
              <a:rPr lang="en-US" sz="1100" b="1" spc="200" kern="0" dirty="0">
                <a:solidFill>
                  <a:srgbClr val="F59E8B"/>
                </a:solidFill>
                <a:latin typeface="Calibri" pitchFamily="34" charset="0"/>
                <a:ea typeface="Calibri" pitchFamily="34" charset="-122"/>
                <a:cs typeface="Calibri" pitchFamily="34" charset="-120"/>
              </a:rPr>
              <a:t>SECURITY AND ACCESS</a:t>
            </a:r>
            <a:endParaRPr lang="en-US" sz="1100" dirty="0"/>
          </a:p>
        </p:txBody>
      </p:sp>
      <p:sp>
        <p:nvSpPr>
          <p:cNvPr id="63" name="Shape 56"/>
          <p:cNvSpPr/>
          <p:nvPr/>
        </p:nvSpPr>
        <p:spPr>
          <a:xfrm>
            <a:off x="4507992" y="4544568"/>
            <a:ext cx="741578" cy="301752"/>
          </a:xfrm>
          <a:prstGeom prst="roundRect">
            <a:avLst>
              <a:gd name="adj" fmla="val 50000"/>
            </a:avLst>
          </a:prstGeom>
          <a:solidFill>
            <a:srgbClr val="F59E8B">
              <a:alpha val="12000"/>
            </a:srgbClr>
          </a:solidFill>
          <a:ln w="9525">
            <a:solidFill>
              <a:srgbClr val="F59E8B">
                <a:alpha val="60000"/>
              </a:srgbClr>
            </a:solidFill>
            <a:prstDash val="solid"/>
          </a:ln>
        </p:spPr>
      </p:sp>
      <p:sp>
        <p:nvSpPr>
          <p:cNvPr id="64" name="Text 57"/>
          <p:cNvSpPr txBox="1"/>
          <p:nvPr/>
        </p:nvSpPr>
        <p:spPr>
          <a:xfrm>
            <a:off x="4507992" y="4544568"/>
            <a:ext cx="741578"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AWS IAM</a:t>
            </a:r>
            <a:endParaRPr lang="en-US" sz="1100" dirty="0"/>
          </a:p>
        </p:txBody>
      </p:sp>
      <p:sp>
        <p:nvSpPr>
          <p:cNvPr id="65" name="Shape 58"/>
          <p:cNvSpPr/>
          <p:nvPr/>
        </p:nvSpPr>
        <p:spPr>
          <a:xfrm>
            <a:off x="5331866" y="4544568"/>
            <a:ext cx="741578" cy="301752"/>
          </a:xfrm>
          <a:prstGeom prst="roundRect">
            <a:avLst>
              <a:gd name="adj" fmla="val 50000"/>
            </a:avLst>
          </a:prstGeom>
          <a:solidFill>
            <a:srgbClr val="F59E8B">
              <a:alpha val="12000"/>
            </a:srgbClr>
          </a:solidFill>
          <a:ln w="9525">
            <a:solidFill>
              <a:srgbClr val="F59E8B">
                <a:alpha val="60000"/>
              </a:srgbClr>
            </a:solidFill>
            <a:prstDash val="solid"/>
          </a:ln>
        </p:spPr>
      </p:sp>
      <p:sp>
        <p:nvSpPr>
          <p:cNvPr id="66" name="Text 59"/>
          <p:cNvSpPr txBox="1"/>
          <p:nvPr/>
        </p:nvSpPr>
        <p:spPr>
          <a:xfrm>
            <a:off x="5331866" y="4544568"/>
            <a:ext cx="741578"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AWS STS</a:t>
            </a:r>
            <a:endParaRPr lang="en-US" sz="1100" dirty="0"/>
          </a:p>
        </p:txBody>
      </p:sp>
      <p:sp>
        <p:nvSpPr>
          <p:cNvPr id="67" name="Shape 60"/>
          <p:cNvSpPr/>
          <p:nvPr/>
        </p:nvSpPr>
        <p:spPr>
          <a:xfrm>
            <a:off x="6155741" y="4544568"/>
            <a:ext cx="1542593" cy="301752"/>
          </a:xfrm>
          <a:prstGeom prst="roundRect">
            <a:avLst>
              <a:gd name="adj" fmla="val 50000"/>
            </a:avLst>
          </a:prstGeom>
          <a:solidFill>
            <a:srgbClr val="F59E8B">
              <a:alpha val="12000"/>
            </a:srgbClr>
          </a:solidFill>
          <a:ln w="9525">
            <a:solidFill>
              <a:srgbClr val="F59E8B">
                <a:alpha val="60000"/>
              </a:srgbClr>
            </a:solidFill>
            <a:prstDash val="solid"/>
          </a:ln>
        </p:spPr>
      </p:sp>
      <p:sp>
        <p:nvSpPr>
          <p:cNvPr id="68" name="Text 61"/>
          <p:cNvSpPr txBox="1"/>
          <p:nvPr/>
        </p:nvSpPr>
        <p:spPr>
          <a:xfrm>
            <a:off x="6155741" y="4544568"/>
            <a:ext cx="1542593"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AWS Systems Manager</a:t>
            </a:r>
            <a:endParaRPr lang="en-US" sz="1100" dirty="0"/>
          </a:p>
        </p:txBody>
      </p:sp>
      <p:sp>
        <p:nvSpPr>
          <p:cNvPr id="69" name="Shape 62"/>
          <p:cNvSpPr/>
          <p:nvPr/>
        </p:nvSpPr>
        <p:spPr>
          <a:xfrm>
            <a:off x="8065008" y="3794760"/>
            <a:ext cx="3575304" cy="2286000"/>
          </a:xfrm>
          <a:prstGeom prst="roundRect">
            <a:avLst>
              <a:gd name="adj" fmla="val 56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70" name="Shape 63"/>
          <p:cNvSpPr/>
          <p:nvPr/>
        </p:nvSpPr>
        <p:spPr>
          <a:xfrm>
            <a:off x="8266176" y="3977640"/>
            <a:ext cx="457200" cy="457200"/>
          </a:xfrm>
          <a:prstGeom prst="ellipse">
            <a:avLst/>
          </a:prstGeom>
          <a:solidFill>
            <a:srgbClr val="132842"/>
          </a:solidFill>
          <a:ln w="15875">
            <a:solidFill>
              <a:srgbClr val="8EE3F5"/>
            </a:solidFill>
            <a:prstDash val="solid"/>
          </a:ln>
          <a:effectLst>
            <a:outerShdw sx="100000" sy="100000" kx="0" ky="0" algn="bl" rotWithShape="0" blurRad="127000" dist="50800" dir="5400000">
              <a:srgbClr val="8EE3F5">
                <a:alpha val="45000"/>
              </a:srgbClr>
            </a:outerShdw>
          </a:effectLst>
        </p:spPr>
      </p:sp>
      <p:pic>
        <p:nvPicPr>
          <p:cNvPr id="71" name="Image 5" descr="preencoded.png">    </p:cNvPr>
          <p:cNvPicPr>
            <a:picLocks noChangeAspect="1"/>
          </p:cNvPicPr>
          <p:nvPr/>
        </p:nvPicPr>
        <p:blipFill>
          <a:blip r:embed="rId6"/>
          <a:stretch>
            <a:fillRect/>
          </a:stretch>
        </p:blipFill>
        <p:spPr>
          <a:xfrm>
            <a:off x="8385048" y="4096512"/>
            <a:ext cx="219456" cy="219456"/>
          </a:xfrm>
          <a:prstGeom prst="rect">
            <a:avLst/>
          </a:prstGeom>
        </p:spPr>
      </p:pic>
      <p:sp>
        <p:nvSpPr>
          <p:cNvPr id="72" name="Text 64"/>
          <p:cNvSpPr txBox="1"/>
          <p:nvPr/>
        </p:nvSpPr>
        <p:spPr>
          <a:xfrm>
            <a:off x="8842248" y="3977640"/>
            <a:ext cx="2660904" cy="457200"/>
          </a:xfrm>
          <a:prstGeom prst="rect">
            <a:avLst/>
          </a:prstGeom>
          <a:noFill/>
          <a:ln/>
        </p:spPr>
        <p:txBody>
          <a:bodyPr wrap="square" lIns="0" tIns="0" rIns="0" bIns="0" rtlCol="0" anchor="ctr"/>
          <a:lstStyle/>
          <a:p>
            <a:pPr indent="0" marL="0">
              <a:buNone/>
            </a:pPr>
            <a:r>
              <a:rPr lang="en-US" sz="1100" b="1" spc="200" kern="0" dirty="0">
                <a:solidFill>
                  <a:srgbClr val="8EE3F5"/>
                </a:solidFill>
                <a:latin typeface="Calibri" pitchFamily="34" charset="0"/>
                <a:ea typeface="Calibri" pitchFamily="34" charset="-122"/>
                <a:cs typeface="Calibri" pitchFamily="34" charset="-120"/>
              </a:rPr>
              <a:t>DEVELOPER TOOLS</a:t>
            </a:r>
            <a:endParaRPr lang="en-US" sz="1100" dirty="0"/>
          </a:p>
        </p:txBody>
      </p:sp>
      <p:sp>
        <p:nvSpPr>
          <p:cNvPr id="73" name="Shape 65"/>
          <p:cNvSpPr/>
          <p:nvPr/>
        </p:nvSpPr>
        <p:spPr>
          <a:xfrm>
            <a:off x="8266176" y="4544568"/>
            <a:ext cx="941832"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74" name="Text 66"/>
          <p:cNvSpPr txBox="1"/>
          <p:nvPr/>
        </p:nvSpPr>
        <p:spPr>
          <a:xfrm>
            <a:off x="8266176" y="4544568"/>
            <a:ext cx="94183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AWS CLI v2</a:t>
            </a:r>
            <a:endParaRPr lang="en-US" sz="1100" dirty="0"/>
          </a:p>
        </p:txBody>
      </p:sp>
      <p:sp>
        <p:nvSpPr>
          <p:cNvPr id="75" name="Shape 67"/>
          <p:cNvSpPr/>
          <p:nvPr/>
        </p:nvSpPr>
        <p:spPr>
          <a:xfrm>
            <a:off x="9290304" y="4544568"/>
            <a:ext cx="1742846"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76" name="Text 68"/>
          <p:cNvSpPr txBox="1"/>
          <p:nvPr/>
        </p:nvSpPr>
        <p:spPr>
          <a:xfrm>
            <a:off x="9290304" y="4544568"/>
            <a:ext cx="1742846"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SDK for Python (Boto3)</a:t>
            </a:r>
            <a:endParaRPr lang="en-US" sz="1100" dirty="0"/>
          </a:p>
        </p:txBody>
      </p:sp>
      <p:sp>
        <p:nvSpPr>
          <p:cNvPr id="77" name="Shape 69"/>
          <p:cNvSpPr/>
          <p:nvPr/>
        </p:nvSpPr>
        <p:spPr>
          <a:xfrm>
            <a:off x="8266176" y="4919472"/>
            <a:ext cx="1475842"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78" name="Text 70"/>
          <p:cNvSpPr txBox="1"/>
          <p:nvPr/>
        </p:nvSpPr>
        <p:spPr>
          <a:xfrm>
            <a:off x="8266176" y="4919472"/>
            <a:ext cx="1475842"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Management Console</a:t>
            </a:r>
            <a:endParaRPr lang="en-US" sz="1100" dirty="0"/>
          </a:p>
        </p:txBody>
      </p:sp>
      <p:sp>
        <p:nvSpPr>
          <p:cNvPr id="79" name="Shape 71"/>
          <p:cNvSpPr/>
          <p:nvPr/>
        </p:nvSpPr>
        <p:spPr>
          <a:xfrm>
            <a:off x="9824314" y="4919472"/>
            <a:ext cx="1208837" cy="301752"/>
          </a:xfrm>
          <a:prstGeom prst="roundRect">
            <a:avLst>
              <a:gd name="adj" fmla="val 50000"/>
            </a:avLst>
          </a:prstGeom>
          <a:solidFill>
            <a:srgbClr val="8EE3F5">
              <a:alpha val="12000"/>
            </a:srgbClr>
          </a:solidFill>
          <a:ln w="9525">
            <a:solidFill>
              <a:srgbClr val="8EE3F5">
                <a:alpha val="60000"/>
              </a:srgbClr>
            </a:solidFill>
            <a:prstDash val="solid"/>
          </a:ln>
        </p:spPr>
      </p:sp>
      <p:sp>
        <p:nvSpPr>
          <p:cNvPr id="80" name="Text 72"/>
          <p:cNvSpPr txBox="1"/>
          <p:nvPr/>
        </p:nvSpPr>
        <p:spPr>
          <a:xfrm>
            <a:off x="9824314" y="4919472"/>
            <a:ext cx="1208837" cy="301752"/>
          </a:xfrm>
          <a:prstGeom prst="rect">
            <a:avLst/>
          </a:prstGeom>
          <a:noFill/>
          <a:ln/>
        </p:spPr>
        <p:txBody>
          <a:bodyPr wrap="square" lIns="0" tIns="0" rIns="0" bIns="0" rtlCol="0" anchor="ctr"/>
          <a:lstStyle/>
          <a:p>
            <a:pPr algn="ctr" indent="0" marL="0">
              <a:buNone/>
            </a:pPr>
            <a:r>
              <a:rPr lang="en-US" sz="1100" dirty="0">
                <a:solidFill>
                  <a:srgbClr val="F4F8FC"/>
                </a:solidFill>
                <a:latin typeface="Calibri" pitchFamily="34" charset="0"/>
                <a:ea typeface="Calibri" pitchFamily="34" charset="-122"/>
                <a:cs typeface="Calibri" pitchFamily="34" charset="-120"/>
              </a:rPr>
              <a:t>AWS CloudShell</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097280" y="384048"/>
            <a:ext cx="10607040" cy="685800"/>
          </a:xfrm>
          <a:prstGeom prst="rect">
            <a:avLst/>
          </a:prstGeom>
          <a:noFill/>
          <a:ln/>
        </p:spPr>
        <p:txBody>
          <a:bodyPr wrap="square" lIns="0" tIns="0" rIns="0" bIns="0" rtlCol="0" anchor="ctr"/>
          <a:lstStyle/>
          <a:p>
            <a:pPr algn="l" indent="0" marL="0">
              <a:buNone/>
            </a:pPr>
            <a:r>
              <a:rPr lang="en-US" sz="3200" b="1" dirty="0">
                <a:solidFill>
                  <a:srgbClr val="F4F8FC"/>
                </a:solidFill>
                <a:latin typeface="Calibri" pitchFamily="34" charset="0"/>
                <a:ea typeface="Calibri" pitchFamily="34" charset="-122"/>
                <a:cs typeface="Calibri" pitchFamily="34" charset="-120"/>
              </a:rPr>
              <a:t>Inside our AWS account</a:t>
            </a:r>
            <a:endParaRPr lang="en-US" sz="3200" dirty="0"/>
          </a:p>
        </p:txBody>
      </p:sp>
      <p:sp>
        <p:nvSpPr>
          <p:cNvPr id="3" name="Shape 1"/>
          <p:cNvSpPr/>
          <p:nvPr/>
        </p:nvSpPr>
        <p:spPr>
          <a:xfrm>
            <a:off x="548640" y="1325880"/>
            <a:ext cx="5449824" cy="2084832"/>
          </a:xfrm>
          <a:prstGeom prst="roundRect">
            <a:avLst>
              <a:gd name="adj" fmla="val 614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4" name="Shape 2"/>
          <p:cNvSpPr/>
          <p:nvPr/>
        </p:nvSpPr>
        <p:spPr>
          <a:xfrm>
            <a:off x="749808" y="1508760"/>
            <a:ext cx="109728" cy="109728"/>
          </a:xfrm>
          <a:prstGeom prst="ellipse">
            <a:avLst/>
          </a:prstGeom>
          <a:solidFill>
            <a:srgbClr val="F2C46D"/>
          </a:solidFill>
          <a:ln w="12700">
            <a:solidFill>
              <a:srgbClr val="F2C46D"/>
            </a:solidFill>
            <a:prstDash val="solid"/>
          </a:ln>
        </p:spPr>
      </p:sp>
      <p:sp>
        <p:nvSpPr>
          <p:cNvPr id="5" name="Text 3"/>
          <p:cNvSpPr txBox="1"/>
          <p:nvPr/>
        </p:nvSpPr>
        <p:spPr>
          <a:xfrm>
            <a:off x="960120" y="1399032"/>
            <a:ext cx="4901184" cy="329184"/>
          </a:xfrm>
          <a:prstGeom prst="rect">
            <a:avLst/>
          </a:prstGeom>
          <a:noFill/>
          <a:ln/>
        </p:spPr>
        <p:txBody>
          <a:bodyPr wrap="square" lIns="0" tIns="0" rIns="0" bIns="0" rtlCol="0" anchor="ctr"/>
          <a:lstStyle/>
          <a:p>
            <a:pPr indent="0" marL="0">
              <a:buNone/>
            </a:pPr>
            <a:r>
              <a:rPr lang="en-US" sz="1100" b="1" spc="200" kern="0" dirty="0">
                <a:solidFill>
                  <a:srgbClr val="F2C46D"/>
                </a:solidFill>
                <a:latin typeface="Calibri" pitchFamily="34" charset="0"/>
                <a:ea typeface="Calibri" pitchFamily="34" charset="-122"/>
                <a:cs typeface="Calibri" pitchFamily="34" charset="-120"/>
              </a:rPr>
              <a:t>AMAZON DYNAMODB</a:t>
            </a:r>
            <a:pPr indent="0" marL="0">
              <a:buNone/>
            </a:pPr>
            <a:r>
              <a:rPr lang="en-US" sz="1100" dirty="0">
                <a:solidFill>
                  <a:srgbClr val="A3B5C9"/>
                </a:solidFill>
                <a:latin typeface="Calibri" pitchFamily="34" charset="0"/>
                <a:ea typeface="Calibri" pitchFamily="34" charset="-122"/>
                <a:cs typeface="Calibri" pitchFamily="34" charset="-120"/>
              </a:rPr>
              <a:t>   one employee's records, one query</a:t>
            </a:r>
            <a:endParaRPr lang="en-US" sz="1100" dirty="0"/>
          </a:p>
        </p:txBody>
      </p:sp>
      <p:sp>
        <p:nvSpPr>
          <p:cNvPr id="6" name="Shape 4"/>
          <p:cNvSpPr/>
          <p:nvPr/>
        </p:nvSpPr>
        <p:spPr>
          <a:xfrm>
            <a:off x="1000433" y="1709928"/>
            <a:ext cx="4546237" cy="1591056"/>
          </a:xfrm>
          <a:prstGeom prst="rect">
            <a:avLst/>
          </a:prstGeom>
          <a:solidFill>
            <a:srgbClr val="FFFFFF">
              <a:alpha val="15000"/>
            </a:srgbClr>
          </a:solidFill>
          <a:ln w="12700">
            <a:solidFill>
              <a:srgbClr val="FFFFFF">
                <a:alpha val="0"/>
              </a:srgbClr>
            </a:solidFill>
            <a:prstDash val="solid"/>
          </a:ln>
        </p:spPr>
      </p:sp>
      <p:pic>
        <p:nvPicPr>
          <p:cNvPr id="7" name="Image 0" descr="AMAZON DYNAMODB in the AWS console: one employee's records, one query">    </p:cNvPr>
          <p:cNvPicPr>
            <a:picLocks noChangeAspect="1"/>
          </p:cNvPicPr>
          <p:nvPr/>
        </p:nvPicPr>
        <p:blipFill>
          <a:blip r:embed="rId1"/>
          <a:stretch>
            <a:fillRect/>
          </a:stretch>
        </p:blipFill>
        <p:spPr>
          <a:xfrm>
            <a:off x="1027865" y="1737360"/>
            <a:ext cx="4491373" cy="1536192"/>
          </a:xfrm>
          <a:prstGeom prst="rect">
            <a:avLst/>
          </a:prstGeom>
        </p:spPr>
      </p:pic>
      <p:sp>
        <p:nvSpPr>
          <p:cNvPr id="8" name="Shape 5"/>
          <p:cNvSpPr/>
          <p:nvPr/>
        </p:nvSpPr>
        <p:spPr>
          <a:xfrm>
            <a:off x="6190488" y="1325880"/>
            <a:ext cx="5449824" cy="2084832"/>
          </a:xfrm>
          <a:prstGeom prst="roundRect">
            <a:avLst>
              <a:gd name="adj" fmla="val 614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9" name="Shape 6"/>
          <p:cNvSpPr/>
          <p:nvPr/>
        </p:nvSpPr>
        <p:spPr>
          <a:xfrm>
            <a:off x="6391656" y="1508760"/>
            <a:ext cx="109728" cy="109728"/>
          </a:xfrm>
          <a:prstGeom prst="ellipse">
            <a:avLst/>
          </a:prstGeom>
          <a:solidFill>
            <a:srgbClr val="F2C46D"/>
          </a:solidFill>
          <a:ln w="12700">
            <a:solidFill>
              <a:srgbClr val="F2C46D"/>
            </a:solidFill>
            <a:prstDash val="solid"/>
          </a:ln>
        </p:spPr>
      </p:sp>
      <p:sp>
        <p:nvSpPr>
          <p:cNvPr id="10" name="Text 7"/>
          <p:cNvSpPr txBox="1"/>
          <p:nvPr/>
        </p:nvSpPr>
        <p:spPr>
          <a:xfrm>
            <a:off x="6601968" y="1399032"/>
            <a:ext cx="4901184" cy="329184"/>
          </a:xfrm>
          <a:prstGeom prst="rect">
            <a:avLst/>
          </a:prstGeom>
          <a:noFill/>
          <a:ln/>
        </p:spPr>
        <p:txBody>
          <a:bodyPr wrap="square" lIns="0" tIns="0" rIns="0" bIns="0" rtlCol="0" anchor="ctr"/>
          <a:lstStyle/>
          <a:p>
            <a:pPr indent="0" marL="0">
              <a:buNone/>
            </a:pPr>
            <a:r>
              <a:rPr lang="en-US" sz="1100" b="1" spc="200" kern="0" dirty="0">
                <a:solidFill>
                  <a:srgbClr val="F2C46D"/>
                </a:solidFill>
                <a:latin typeface="Calibri" pitchFamily="34" charset="0"/>
                <a:ea typeface="Calibri" pitchFamily="34" charset="-122"/>
                <a:cs typeface="Calibri" pitchFamily="34" charset="-120"/>
              </a:rPr>
              <a:t>BEDROCK KNOWLEDGE BASE</a:t>
            </a:r>
            <a:pPr indent="0" marL="0">
              <a:buNone/>
            </a:pPr>
            <a:r>
              <a:rPr lang="en-US" sz="1100" dirty="0">
                <a:solidFill>
                  <a:srgbClr val="A3B5C9"/>
                </a:solidFill>
                <a:latin typeface="Calibri" pitchFamily="34" charset="0"/>
                <a:ea typeface="Calibri" pitchFamily="34" charset="-122"/>
                <a:cs typeface="Calibri" pitchFamily="34" charset="-120"/>
              </a:rPr>
              <a:t>   the policy documents, available</a:t>
            </a:r>
            <a:endParaRPr lang="en-US" sz="1100" dirty="0"/>
          </a:p>
        </p:txBody>
      </p:sp>
      <p:sp>
        <p:nvSpPr>
          <p:cNvPr id="11" name="Shape 8"/>
          <p:cNvSpPr/>
          <p:nvPr/>
        </p:nvSpPr>
        <p:spPr>
          <a:xfrm>
            <a:off x="6644092" y="1709928"/>
            <a:ext cx="4542616" cy="1591056"/>
          </a:xfrm>
          <a:prstGeom prst="rect">
            <a:avLst/>
          </a:prstGeom>
          <a:solidFill>
            <a:srgbClr val="FFFFFF">
              <a:alpha val="15000"/>
            </a:srgbClr>
          </a:solidFill>
          <a:ln w="12700">
            <a:solidFill>
              <a:srgbClr val="FFFFFF">
                <a:alpha val="0"/>
              </a:srgbClr>
            </a:solidFill>
            <a:prstDash val="solid"/>
          </a:ln>
        </p:spPr>
      </p:sp>
      <p:pic>
        <p:nvPicPr>
          <p:cNvPr id="12" name="Image 1" descr="BEDROCK KNOWLEDGE BASE in the AWS console: the policy documents, available">    </p:cNvPr>
          <p:cNvPicPr>
            <a:picLocks noChangeAspect="1"/>
          </p:cNvPicPr>
          <p:nvPr/>
        </p:nvPicPr>
        <p:blipFill>
          <a:blip r:embed="rId2"/>
          <a:stretch>
            <a:fillRect/>
          </a:stretch>
        </p:blipFill>
        <p:spPr>
          <a:xfrm>
            <a:off x="6671524" y="1737360"/>
            <a:ext cx="4487752" cy="1536192"/>
          </a:xfrm>
          <a:prstGeom prst="rect">
            <a:avLst/>
          </a:prstGeom>
        </p:spPr>
      </p:pic>
      <p:sp>
        <p:nvSpPr>
          <p:cNvPr id="13" name="Shape 9"/>
          <p:cNvSpPr/>
          <p:nvPr/>
        </p:nvSpPr>
        <p:spPr>
          <a:xfrm>
            <a:off x="548640" y="3575304"/>
            <a:ext cx="5449824" cy="2084832"/>
          </a:xfrm>
          <a:prstGeom prst="roundRect">
            <a:avLst>
              <a:gd name="adj" fmla="val 614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4" name="Shape 10"/>
          <p:cNvSpPr/>
          <p:nvPr/>
        </p:nvSpPr>
        <p:spPr>
          <a:xfrm>
            <a:off x="749808" y="3758184"/>
            <a:ext cx="109728" cy="109728"/>
          </a:xfrm>
          <a:prstGeom prst="ellipse">
            <a:avLst/>
          </a:prstGeom>
          <a:solidFill>
            <a:srgbClr val="8EE3F5"/>
          </a:solidFill>
          <a:ln w="12700">
            <a:solidFill>
              <a:srgbClr val="8EE3F5"/>
            </a:solidFill>
            <a:prstDash val="solid"/>
          </a:ln>
        </p:spPr>
      </p:sp>
      <p:sp>
        <p:nvSpPr>
          <p:cNvPr id="15" name="Text 11"/>
          <p:cNvSpPr txBox="1"/>
          <p:nvPr/>
        </p:nvSpPr>
        <p:spPr>
          <a:xfrm>
            <a:off x="960120" y="3648456"/>
            <a:ext cx="4901184" cy="329184"/>
          </a:xfrm>
          <a:prstGeom prst="rect">
            <a:avLst/>
          </a:prstGeom>
          <a:noFill/>
          <a:ln/>
        </p:spPr>
        <p:txBody>
          <a:bodyPr wrap="square" lIns="0" tIns="0" rIns="0" bIns="0" rtlCol="0" anchor="ctr"/>
          <a:lstStyle/>
          <a:p>
            <a:pPr indent="0" marL="0">
              <a:buNone/>
            </a:pPr>
            <a:r>
              <a:rPr lang="en-US" sz="1100" b="1" spc="200" kern="0" dirty="0">
                <a:solidFill>
                  <a:srgbClr val="8EE3F5"/>
                </a:solidFill>
                <a:latin typeface="Calibri" pitchFamily="34" charset="0"/>
                <a:ea typeface="Calibri" pitchFamily="34" charset="-122"/>
                <a:cs typeface="Calibri" pitchFamily="34" charset="-120"/>
              </a:rPr>
              <a:t>AMAZON EC2</a:t>
            </a:r>
            <a:pPr indent="0" marL="0">
              <a:buNone/>
            </a:pPr>
            <a:r>
              <a:rPr lang="en-US" sz="1100" dirty="0">
                <a:solidFill>
                  <a:srgbClr val="A3B5C9"/>
                </a:solidFill>
                <a:latin typeface="Calibri" pitchFamily="34" charset="0"/>
                <a:ea typeface="Calibri" pitchFamily="34" charset="-122"/>
                <a:cs typeface="Calibri" pitchFamily="34" charset="-120"/>
              </a:rPr>
              <a:t>   the demo server, running, 3 of 3 checks</a:t>
            </a:r>
            <a:endParaRPr lang="en-US" sz="1100" dirty="0"/>
          </a:p>
        </p:txBody>
      </p:sp>
      <p:sp>
        <p:nvSpPr>
          <p:cNvPr id="16" name="Shape 12"/>
          <p:cNvSpPr/>
          <p:nvPr/>
        </p:nvSpPr>
        <p:spPr>
          <a:xfrm>
            <a:off x="1000790" y="3959352"/>
            <a:ext cx="4545523" cy="1591056"/>
          </a:xfrm>
          <a:prstGeom prst="rect">
            <a:avLst/>
          </a:prstGeom>
          <a:solidFill>
            <a:srgbClr val="FFFFFF">
              <a:alpha val="15000"/>
            </a:srgbClr>
          </a:solidFill>
          <a:ln w="12700">
            <a:solidFill>
              <a:srgbClr val="FFFFFF">
                <a:alpha val="0"/>
              </a:srgbClr>
            </a:solidFill>
            <a:prstDash val="solid"/>
          </a:ln>
        </p:spPr>
      </p:sp>
      <p:pic>
        <p:nvPicPr>
          <p:cNvPr id="17" name="Image 2" descr="AMAZON EC2 in the AWS console: the demo server, running, 3 of 3 checks">    </p:cNvPr>
          <p:cNvPicPr>
            <a:picLocks noChangeAspect="1"/>
          </p:cNvPicPr>
          <p:nvPr/>
        </p:nvPicPr>
        <p:blipFill>
          <a:blip r:embed="rId3"/>
          <a:stretch>
            <a:fillRect/>
          </a:stretch>
        </p:blipFill>
        <p:spPr>
          <a:xfrm>
            <a:off x="1028222" y="3986784"/>
            <a:ext cx="4490659" cy="1536192"/>
          </a:xfrm>
          <a:prstGeom prst="rect">
            <a:avLst/>
          </a:prstGeom>
        </p:spPr>
      </p:pic>
      <p:sp>
        <p:nvSpPr>
          <p:cNvPr id="18" name="Shape 13"/>
          <p:cNvSpPr/>
          <p:nvPr/>
        </p:nvSpPr>
        <p:spPr>
          <a:xfrm>
            <a:off x="6190488" y="3575304"/>
            <a:ext cx="5449824" cy="2084832"/>
          </a:xfrm>
          <a:prstGeom prst="roundRect">
            <a:avLst>
              <a:gd name="adj" fmla="val 6140"/>
            </a:avLst>
          </a:prstGeom>
          <a:solidFill>
            <a:srgbClr val="0F1E33">
              <a:alpha val="82000"/>
            </a:srgbClr>
          </a:solidFill>
          <a:ln w="12700">
            <a:solidFill>
              <a:srgbClr val="B7A4FF"/>
            </a:solidFill>
            <a:prstDash val="solid"/>
          </a:ln>
          <a:effectLst>
            <a:outerShdw sx="100000" sy="100000" kx="0" ky="0" algn="bl" rotWithShape="0" blurRad="177800" dist="50800" dir="5400000">
              <a:srgbClr val="B7A4FF">
                <a:alpha val="55000"/>
              </a:srgbClr>
            </a:outerShdw>
          </a:effectLst>
        </p:spPr>
      </p:sp>
      <p:sp>
        <p:nvSpPr>
          <p:cNvPr id="19" name="Shape 14"/>
          <p:cNvSpPr/>
          <p:nvPr/>
        </p:nvSpPr>
        <p:spPr>
          <a:xfrm>
            <a:off x="6391656" y="3758184"/>
            <a:ext cx="109728" cy="109728"/>
          </a:xfrm>
          <a:prstGeom prst="ellipse">
            <a:avLst/>
          </a:prstGeom>
          <a:solidFill>
            <a:srgbClr val="B7A4FF"/>
          </a:solidFill>
          <a:ln w="12700">
            <a:solidFill>
              <a:srgbClr val="B7A4FF"/>
            </a:solidFill>
            <a:prstDash val="solid"/>
          </a:ln>
        </p:spPr>
      </p:sp>
      <p:sp>
        <p:nvSpPr>
          <p:cNvPr id="20" name="Text 15"/>
          <p:cNvSpPr txBox="1"/>
          <p:nvPr/>
        </p:nvSpPr>
        <p:spPr>
          <a:xfrm>
            <a:off x="6601968" y="3648456"/>
            <a:ext cx="4901184" cy="329184"/>
          </a:xfrm>
          <a:prstGeom prst="rect">
            <a:avLst/>
          </a:prstGeom>
          <a:noFill/>
          <a:ln/>
        </p:spPr>
        <p:txBody>
          <a:bodyPr wrap="square" lIns="0" tIns="0" rIns="0" bIns="0" rtlCol="0" anchor="ctr"/>
          <a:lstStyle/>
          <a:p>
            <a:pPr indent="0" marL="0">
              <a:buNone/>
            </a:pPr>
            <a:r>
              <a:rPr lang="en-US" sz="1100" b="1" spc="200" kern="0" dirty="0">
                <a:solidFill>
                  <a:srgbClr val="B7A4FF"/>
                </a:solidFill>
                <a:latin typeface="Calibri" pitchFamily="34" charset="0"/>
                <a:ea typeface="Calibri" pitchFamily="34" charset="-122"/>
                <a:cs typeface="Calibri" pitchFamily="34" charset="-120"/>
              </a:rPr>
              <a:t>EVENTBRIDGE SCHEDULER</a:t>
            </a:r>
            <a:pPr indent="0" marL="0">
              <a:buNone/>
            </a:pPr>
            <a:r>
              <a:rPr lang="en-US" sz="1100" dirty="0">
                <a:solidFill>
                  <a:srgbClr val="A3B5C9"/>
                </a:solidFill>
                <a:latin typeface="Calibri" pitchFamily="34" charset="0"/>
                <a:ea typeface="Calibri" pitchFamily="34" charset="-122"/>
                <a:cs typeface="Calibri" pitchFamily="34" charset="-120"/>
              </a:rPr>
              <a:t>   from our last project</a:t>
            </a:r>
            <a:endParaRPr lang="en-US" sz="1100" dirty="0"/>
          </a:p>
        </p:txBody>
      </p:sp>
      <p:sp>
        <p:nvSpPr>
          <p:cNvPr id="21" name="Shape 16"/>
          <p:cNvSpPr/>
          <p:nvPr/>
        </p:nvSpPr>
        <p:spPr>
          <a:xfrm>
            <a:off x="6645207" y="3959352"/>
            <a:ext cx="4540386" cy="1591056"/>
          </a:xfrm>
          <a:prstGeom prst="rect">
            <a:avLst/>
          </a:prstGeom>
          <a:solidFill>
            <a:srgbClr val="FFFFFF">
              <a:alpha val="15000"/>
            </a:srgbClr>
          </a:solidFill>
          <a:ln w="12700">
            <a:solidFill>
              <a:srgbClr val="FFFFFF">
                <a:alpha val="0"/>
              </a:srgbClr>
            </a:solidFill>
            <a:prstDash val="solid"/>
          </a:ln>
        </p:spPr>
      </p:sp>
      <p:pic>
        <p:nvPicPr>
          <p:cNvPr id="22" name="Image 3" descr="EVENTBRIDGE SCHEDULER in the AWS console: from our last project">    </p:cNvPr>
          <p:cNvPicPr>
            <a:picLocks noChangeAspect="1"/>
          </p:cNvPicPr>
          <p:nvPr/>
        </p:nvPicPr>
        <p:blipFill>
          <a:blip r:embed="rId4"/>
          <a:stretch>
            <a:fillRect/>
          </a:stretch>
        </p:blipFill>
        <p:spPr>
          <a:xfrm>
            <a:off x="6672639" y="3986784"/>
            <a:ext cx="4485522" cy="1536192"/>
          </a:xfrm>
          <a:prstGeom prst="rect">
            <a:avLst/>
          </a:prstGeom>
        </p:spPr>
      </p:pic>
      <p:pic>
        <p:nvPicPr>
          <p:cNvPr id="23" name="Image 4" descr="preencoded.png">    </p:cNvPr>
          <p:cNvPicPr>
            <a:picLocks noChangeAspect="1"/>
          </p:cNvPicPr>
          <p:nvPr/>
        </p:nvPicPr>
        <p:blipFill>
          <a:blip r:embed="rId5"/>
          <a:stretch>
            <a:fillRect/>
          </a:stretch>
        </p:blipFill>
        <p:spPr>
          <a:xfrm>
            <a:off x="566928" y="5833872"/>
            <a:ext cx="237744" cy="237744"/>
          </a:xfrm>
          <a:prstGeom prst="rect">
            <a:avLst/>
          </a:prstGeom>
        </p:spPr>
      </p:pic>
      <p:sp>
        <p:nvSpPr>
          <p:cNvPr id="24" name="Text 17"/>
          <p:cNvSpPr txBox="1"/>
          <p:nvPr/>
        </p:nvSpPr>
        <p:spPr>
          <a:xfrm>
            <a:off x="914400" y="5760720"/>
            <a:ext cx="10725912" cy="384048"/>
          </a:xfrm>
          <a:prstGeom prst="rect">
            <a:avLst/>
          </a:prstGeom>
          <a:noFill/>
          <a:ln/>
        </p:spPr>
        <p:txBody>
          <a:bodyPr wrap="square" lIns="0" tIns="0" rIns="0" bIns="0" rtlCol="0" anchor="ctr"/>
          <a:lstStyle/>
          <a:p>
            <a:pPr indent="0" marL="0">
              <a:buNone/>
            </a:pPr>
            <a:r>
              <a:rPr lang="en-US" sz="1300" i="1" dirty="0">
                <a:solidFill>
                  <a:srgbClr val="DCE6F0"/>
                </a:solidFill>
                <a:latin typeface="Calibri" pitchFamily="34" charset="0"/>
                <a:ea typeface="Calibri" pitchFamily="34" charset="-122"/>
                <a:cs typeface="Calibri" pitchFamily="34" charset="-120"/>
              </a:rPr>
              <a:t>Our last project runs this one: its scheduler starts the server at 8:00 AM and stops it at 6:00 PM, and every start pulls the latest code from GitHub.</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097280" y="384048"/>
            <a:ext cx="10607040" cy="685800"/>
          </a:xfrm>
          <a:prstGeom prst="rect">
            <a:avLst/>
          </a:prstGeom>
          <a:noFill/>
          <a:ln/>
        </p:spPr>
        <p:txBody>
          <a:bodyPr wrap="square" lIns="0" tIns="0" rIns="0" bIns="0" rtlCol="0" anchor="ctr"/>
          <a:lstStyle/>
          <a:p>
            <a:pPr algn="l" indent="0" marL="0">
              <a:buNone/>
            </a:pPr>
            <a:r>
              <a:rPr lang="en-US" sz="3200" b="1" dirty="0">
                <a:solidFill>
                  <a:srgbClr val="F4F8FC"/>
                </a:solidFill>
                <a:latin typeface="Calibri" pitchFamily="34" charset="0"/>
                <a:ea typeface="Calibri" pitchFamily="34" charset="-122"/>
                <a:cs typeface="Calibri" pitchFamily="34" charset="-120"/>
              </a:rPr>
              <a:t>Live demo</a:t>
            </a:r>
            <a:endParaRPr lang="en-US" sz="3200" dirty="0"/>
          </a:p>
        </p:txBody>
      </p:sp>
      <p:sp>
        <p:nvSpPr>
          <p:cNvPr id="3" name="Shape 1"/>
          <p:cNvSpPr/>
          <p:nvPr/>
        </p:nvSpPr>
        <p:spPr>
          <a:xfrm>
            <a:off x="3017520" y="562356"/>
            <a:ext cx="868680" cy="329184"/>
          </a:xfrm>
          <a:prstGeom prst="roundRect">
            <a:avLst>
              <a:gd name="adj" fmla="val 50000"/>
            </a:avLst>
          </a:prstGeom>
          <a:solidFill>
            <a:srgbClr val="F59E8B">
              <a:alpha val="15000"/>
            </a:srgbClr>
          </a:solidFill>
          <a:ln w="12700">
            <a:solidFill>
              <a:srgbClr val="F59E8B"/>
            </a:solidFill>
            <a:prstDash val="solid"/>
          </a:ln>
        </p:spPr>
      </p:sp>
      <p:sp>
        <p:nvSpPr>
          <p:cNvPr id="4" name="Shape 2"/>
          <p:cNvSpPr/>
          <p:nvPr/>
        </p:nvSpPr>
        <p:spPr>
          <a:xfrm>
            <a:off x="3145536" y="676656"/>
            <a:ext cx="100584" cy="100584"/>
          </a:xfrm>
          <a:prstGeom prst="ellipse">
            <a:avLst/>
          </a:prstGeom>
          <a:solidFill>
            <a:srgbClr val="F59E8B"/>
          </a:solidFill>
          <a:ln w="12700">
            <a:solidFill>
              <a:srgbClr val="F59E8B"/>
            </a:solidFill>
            <a:prstDash val="solid"/>
          </a:ln>
          <a:effectLst>
            <a:outerShdw sx="100000" sy="100000" kx="0" ky="0" algn="bl" rotWithShape="0" blurRad="76200" dist="50800" dir="5400000">
              <a:srgbClr val="F59E8B">
                <a:alpha val="90000"/>
              </a:srgbClr>
            </a:outerShdw>
          </a:effectLst>
        </p:spPr>
      </p:sp>
      <p:sp>
        <p:nvSpPr>
          <p:cNvPr id="5" name="Text 3"/>
          <p:cNvSpPr txBox="1"/>
          <p:nvPr/>
        </p:nvSpPr>
        <p:spPr>
          <a:xfrm>
            <a:off x="3319272" y="562356"/>
            <a:ext cx="502920" cy="329184"/>
          </a:xfrm>
          <a:prstGeom prst="rect">
            <a:avLst/>
          </a:prstGeom>
          <a:noFill/>
          <a:ln/>
        </p:spPr>
        <p:txBody>
          <a:bodyPr wrap="square" lIns="0" tIns="0" rIns="0" bIns="0" rtlCol="0" anchor="ctr"/>
          <a:lstStyle/>
          <a:p>
            <a:pPr indent="0" marL="0">
              <a:buNone/>
            </a:pPr>
            <a:r>
              <a:rPr lang="en-US" sz="1000" b="1" spc="300" kern="0" dirty="0">
                <a:solidFill>
                  <a:srgbClr val="F59E8B"/>
                </a:solidFill>
                <a:latin typeface="Calibri" pitchFamily="34" charset="0"/>
                <a:ea typeface="Calibri" pitchFamily="34" charset="-122"/>
                <a:cs typeface="Calibri" pitchFamily="34" charset="-120"/>
              </a:rPr>
              <a:t>LIVE</a:t>
            </a:r>
            <a:endParaRPr lang="en-US" sz="1000" dirty="0"/>
          </a:p>
        </p:txBody>
      </p:sp>
      <p:sp>
        <p:nvSpPr>
          <p:cNvPr id="6" name="Shape 4"/>
          <p:cNvSpPr/>
          <p:nvPr/>
        </p:nvSpPr>
        <p:spPr>
          <a:xfrm>
            <a:off x="548640" y="1371600"/>
            <a:ext cx="7086600" cy="804672"/>
          </a:xfrm>
          <a:prstGeom prst="roundRect">
            <a:avLst>
              <a:gd name="adj" fmla="val 500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7" name="Shape 5"/>
          <p:cNvSpPr/>
          <p:nvPr/>
        </p:nvSpPr>
        <p:spPr>
          <a:xfrm>
            <a:off x="713232" y="1527048"/>
            <a:ext cx="493776" cy="493776"/>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50000"/>
              </a:srgbClr>
            </a:outerShdw>
          </a:effectLst>
        </p:spPr>
      </p:sp>
      <p:sp>
        <p:nvSpPr>
          <p:cNvPr id="8" name="Text 6"/>
          <p:cNvSpPr txBox="1"/>
          <p:nvPr/>
        </p:nvSpPr>
        <p:spPr>
          <a:xfrm>
            <a:off x="713232" y="1527048"/>
            <a:ext cx="493776" cy="493776"/>
          </a:xfrm>
          <a:prstGeom prst="rect">
            <a:avLst/>
          </a:prstGeom>
          <a:noFill/>
          <a:ln/>
        </p:spPr>
        <p:txBody>
          <a:bodyPr wrap="square" lIns="0" tIns="0" rIns="0" bIns="0" rtlCol="0" anchor="ctr"/>
          <a:lstStyle/>
          <a:p>
            <a:pPr algn="ctr" indent="0" marL="0">
              <a:buNone/>
            </a:pPr>
            <a:r>
              <a:rPr lang="en-US" sz="1600" b="1" dirty="0">
                <a:solidFill>
                  <a:srgbClr val="5CE6B0"/>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417320" y="1371600"/>
            <a:ext cx="6080760" cy="804672"/>
          </a:xfrm>
          <a:prstGeom prst="rect">
            <a:avLst/>
          </a:prstGeom>
          <a:noFill/>
          <a:ln/>
        </p:spPr>
        <p:txBody>
          <a:bodyPr wrap="square" lIns="0" tIns="0" rIns="0" bIns="0" rtlCol="0" anchor="ctr"/>
          <a:lstStyle/>
          <a:p>
            <a:pPr indent="0" marL="0">
              <a:spcAft>
                <a:spcPts val="200"/>
              </a:spcAft>
              <a:buNone/>
            </a:pPr>
            <a:r>
              <a:rPr lang="en-US" sz="1600" b="1" dirty="0">
                <a:solidFill>
                  <a:srgbClr val="F4F8FC"/>
                </a:solidFill>
                <a:latin typeface="Calibri" pitchFamily="34" charset="0"/>
                <a:ea typeface="Calibri" pitchFamily="34" charset="-122"/>
                <a:cs typeface="Calibri" pitchFamily="34" charset="-120"/>
              </a:rPr>
              <a:t>How much PTO do I have, and what can I carry over?</a:t>
            </a:r>
            <a:endParaRPr lang="en-US" sz="1600" dirty="0"/>
          </a:p>
          <a:p>
            <a:pPr indent="0" marL="0">
              <a:spcAft>
                <a:spcPts val="200"/>
              </a:spcAft>
              <a:buNone/>
            </a:pPr>
            <a:r>
              <a:rPr lang="en-US" sz="1250" dirty="0">
                <a:solidFill>
                  <a:srgbClr val="5CE6B0"/>
                </a:solidFill>
                <a:latin typeface="Calibri" pitchFamily="34" charset="0"/>
                <a:ea typeface="Calibri" pitchFamily="34" charset="-122"/>
                <a:cs typeface="Calibri" pitchFamily="34" charset="-120"/>
              </a:rPr>
              <a:t>two sources, one answer, with a citation</a:t>
            </a:r>
            <a:endParaRPr lang="en-US" sz="1600" dirty="0"/>
          </a:p>
        </p:txBody>
      </p:sp>
      <p:sp>
        <p:nvSpPr>
          <p:cNvPr id="10" name="Shape 8"/>
          <p:cNvSpPr/>
          <p:nvPr/>
        </p:nvSpPr>
        <p:spPr>
          <a:xfrm>
            <a:off x="548640" y="2295144"/>
            <a:ext cx="7086600" cy="804672"/>
          </a:xfrm>
          <a:prstGeom prst="roundRect">
            <a:avLst>
              <a:gd name="adj" fmla="val 500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1" name="Shape 9"/>
          <p:cNvSpPr/>
          <p:nvPr/>
        </p:nvSpPr>
        <p:spPr>
          <a:xfrm>
            <a:off x="713232" y="2450592"/>
            <a:ext cx="493776" cy="493776"/>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50000"/>
              </a:srgbClr>
            </a:outerShdw>
          </a:effectLst>
        </p:spPr>
      </p:sp>
      <p:sp>
        <p:nvSpPr>
          <p:cNvPr id="12" name="Text 10"/>
          <p:cNvSpPr txBox="1"/>
          <p:nvPr/>
        </p:nvSpPr>
        <p:spPr>
          <a:xfrm>
            <a:off x="713232" y="2450592"/>
            <a:ext cx="493776" cy="493776"/>
          </a:xfrm>
          <a:prstGeom prst="rect">
            <a:avLst/>
          </a:prstGeom>
          <a:noFill/>
          <a:ln/>
        </p:spPr>
        <p:txBody>
          <a:bodyPr wrap="square" lIns="0" tIns="0" rIns="0" bIns="0" rtlCol="0" anchor="ctr"/>
          <a:lstStyle/>
          <a:p>
            <a:pPr algn="ctr" indent="0" marL="0">
              <a:buNone/>
            </a:pPr>
            <a:r>
              <a:rPr lang="en-US" sz="1600" b="1" dirty="0">
                <a:solidFill>
                  <a:srgbClr val="5CE6B0"/>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417320" y="2295144"/>
            <a:ext cx="6080760" cy="804672"/>
          </a:xfrm>
          <a:prstGeom prst="rect">
            <a:avLst/>
          </a:prstGeom>
          <a:noFill/>
          <a:ln/>
        </p:spPr>
        <p:txBody>
          <a:bodyPr wrap="square" lIns="0" tIns="0" rIns="0" bIns="0" rtlCol="0" anchor="ctr"/>
          <a:lstStyle/>
          <a:p>
            <a:pPr indent="0" marL="0">
              <a:spcAft>
                <a:spcPts val="200"/>
              </a:spcAft>
              <a:buNone/>
            </a:pPr>
            <a:r>
              <a:rPr lang="en-US" sz="1600" b="1" dirty="0">
                <a:solidFill>
                  <a:srgbClr val="F4F8FC"/>
                </a:solidFill>
                <a:latin typeface="Calibri" pitchFamily="34" charset="0"/>
                <a:ea typeface="Calibri" pitchFamily="34" charset="-122"/>
                <a:cs typeface="Calibri" pitchFamily="34" charset="-120"/>
              </a:rPr>
              <a:t>Summarize my October expenses.</a:t>
            </a:r>
            <a:endParaRPr lang="en-US" sz="1600" dirty="0"/>
          </a:p>
          <a:p>
            <a:pPr indent="0" marL="0">
              <a:spcAft>
                <a:spcPts val="200"/>
              </a:spcAft>
              <a:buNone/>
            </a:pPr>
            <a:r>
              <a:rPr lang="en-US" sz="1250" dirty="0">
                <a:solidFill>
                  <a:srgbClr val="5CE6B0"/>
                </a:solidFill>
                <a:latin typeface="Calibri" pitchFamily="34" charset="0"/>
                <a:ea typeface="Calibri" pitchFamily="34" charset="-122"/>
                <a:cs typeface="Calibri" pitchFamily="34" charset="-120"/>
              </a:rPr>
              <a:t>exact totals, calculated in code</a:t>
            </a:r>
            <a:endParaRPr lang="en-US" sz="1600" dirty="0"/>
          </a:p>
        </p:txBody>
      </p:sp>
      <p:sp>
        <p:nvSpPr>
          <p:cNvPr id="14" name="Shape 12"/>
          <p:cNvSpPr/>
          <p:nvPr/>
        </p:nvSpPr>
        <p:spPr>
          <a:xfrm>
            <a:off x="548640" y="3218688"/>
            <a:ext cx="7086600" cy="804672"/>
          </a:xfrm>
          <a:prstGeom prst="roundRect">
            <a:avLst>
              <a:gd name="adj" fmla="val 500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5" name="Shape 13"/>
          <p:cNvSpPr/>
          <p:nvPr/>
        </p:nvSpPr>
        <p:spPr>
          <a:xfrm>
            <a:off x="713232" y="3374136"/>
            <a:ext cx="493776" cy="493776"/>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50000"/>
              </a:srgbClr>
            </a:outerShdw>
          </a:effectLst>
        </p:spPr>
      </p:sp>
      <p:sp>
        <p:nvSpPr>
          <p:cNvPr id="16" name="Text 14"/>
          <p:cNvSpPr txBox="1"/>
          <p:nvPr/>
        </p:nvSpPr>
        <p:spPr>
          <a:xfrm>
            <a:off x="713232" y="3374136"/>
            <a:ext cx="493776" cy="493776"/>
          </a:xfrm>
          <a:prstGeom prst="rect">
            <a:avLst/>
          </a:prstGeom>
          <a:noFill/>
          <a:ln/>
        </p:spPr>
        <p:txBody>
          <a:bodyPr wrap="square" lIns="0" tIns="0" rIns="0" bIns="0" rtlCol="0" anchor="ctr"/>
          <a:lstStyle/>
          <a:p>
            <a:pPr algn="ctr" indent="0" marL="0">
              <a:buNone/>
            </a:pPr>
            <a:r>
              <a:rPr lang="en-US" sz="1600" b="1" dirty="0">
                <a:solidFill>
                  <a:srgbClr val="5CE6B0"/>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417320" y="3218688"/>
            <a:ext cx="6080760" cy="804672"/>
          </a:xfrm>
          <a:prstGeom prst="rect">
            <a:avLst/>
          </a:prstGeom>
          <a:noFill/>
          <a:ln/>
        </p:spPr>
        <p:txBody>
          <a:bodyPr wrap="square" lIns="0" tIns="0" rIns="0" bIns="0" rtlCol="0" anchor="ctr"/>
          <a:lstStyle/>
          <a:p>
            <a:pPr indent="0" marL="0">
              <a:spcAft>
                <a:spcPts val="200"/>
              </a:spcAft>
              <a:buNone/>
            </a:pPr>
            <a:r>
              <a:rPr lang="en-US" sz="1600" b="1" dirty="0">
                <a:solidFill>
                  <a:srgbClr val="F4F8FC"/>
                </a:solidFill>
                <a:latin typeface="Calibri" pitchFamily="34" charset="0"/>
                <a:ea typeface="Calibri" pitchFamily="34" charset="-122"/>
                <a:cs typeface="Calibri" pitchFamily="34" charset="-120"/>
              </a:rPr>
              <a:t>Give me my PTO, check my projects, and look for my open tickets.</a:t>
            </a:r>
            <a:endParaRPr lang="en-US" sz="1600" dirty="0"/>
          </a:p>
          <a:p>
            <a:pPr indent="0" marL="0">
              <a:spcAft>
                <a:spcPts val="200"/>
              </a:spcAft>
              <a:buNone/>
            </a:pPr>
            <a:r>
              <a:rPr lang="en-US" sz="1250" dirty="0">
                <a:solidFill>
                  <a:srgbClr val="5CE6B0"/>
                </a:solidFill>
                <a:latin typeface="Calibri" pitchFamily="34" charset="0"/>
                <a:ea typeface="Calibri" pitchFamily="34" charset="-122"/>
                <a:cs typeface="Calibri" pitchFamily="34" charset="-120"/>
              </a:rPr>
              <a:t>all three specialists</a:t>
            </a:r>
            <a:endParaRPr lang="en-US" sz="1600" dirty="0"/>
          </a:p>
        </p:txBody>
      </p:sp>
      <p:sp>
        <p:nvSpPr>
          <p:cNvPr id="18" name="Shape 16"/>
          <p:cNvSpPr/>
          <p:nvPr/>
        </p:nvSpPr>
        <p:spPr>
          <a:xfrm>
            <a:off x="548640" y="4142232"/>
            <a:ext cx="7086600" cy="804672"/>
          </a:xfrm>
          <a:prstGeom prst="roundRect">
            <a:avLst>
              <a:gd name="adj" fmla="val 500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9" name="Shape 17"/>
          <p:cNvSpPr/>
          <p:nvPr/>
        </p:nvSpPr>
        <p:spPr>
          <a:xfrm>
            <a:off x="713232" y="4297680"/>
            <a:ext cx="493776" cy="493776"/>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50000"/>
              </a:srgbClr>
            </a:outerShdw>
          </a:effectLst>
        </p:spPr>
      </p:sp>
      <p:sp>
        <p:nvSpPr>
          <p:cNvPr id="20" name="Text 18"/>
          <p:cNvSpPr txBox="1"/>
          <p:nvPr/>
        </p:nvSpPr>
        <p:spPr>
          <a:xfrm>
            <a:off x="713232" y="4297680"/>
            <a:ext cx="493776" cy="493776"/>
          </a:xfrm>
          <a:prstGeom prst="rect">
            <a:avLst/>
          </a:prstGeom>
          <a:noFill/>
          <a:ln/>
        </p:spPr>
        <p:txBody>
          <a:bodyPr wrap="square" lIns="0" tIns="0" rIns="0" bIns="0" rtlCol="0" anchor="ctr"/>
          <a:lstStyle/>
          <a:p>
            <a:pPr algn="ctr" indent="0" marL="0">
              <a:buNone/>
            </a:pPr>
            <a:r>
              <a:rPr lang="en-US" sz="1600" b="1" dirty="0">
                <a:solidFill>
                  <a:srgbClr val="5CE6B0"/>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417320" y="4142232"/>
            <a:ext cx="6080760" cy="804672"/>
          </a:xfrm>
          <a:prstGeom prst="rect">
            <a:avLst/>
          </a:prstGeom>
          <a:noFill/>
          <a:ln/>
        </p:spPr>
        <p:txBody>
          <a:bodyPr wrap="square" lIns="0" tIns="0" rIns="0" bIns="0" rtlCol="0" anchor="ctr"/>
          <a:lstStyle/>
          <a:p>
            <a:pPr indent="0" marL="0">
              <a:spcAft>
                <a:spcPts val="200"/>
              </a:spcAft>
              <a:buNone/>
            </a:pPr>
            <a:r>
              <a:rPr lang="en-US" sz="1600" b="1" dirty="0">
                <a:solidFill>
                  <a:srgbClr val="F4F8FC"/>
                </a:solidFill>
                <a:latin typeface="Calibri" pitchFamily="34" charset="0"/>
                <a:ea typeface="Calibri" pitchFamily="34" charset="-122"/>
                <a:cs typeface="Calibri" pitchFamily="34" charset="-120"/>
              </a:rPr>
              <a:t>I need AWS sandbox access through October 30 for load testing.</a:t>
            </a:r>
            <a:endParaRPr lang="en-US" sz="1600" dirty="0"/>
          </a:p>
          <a:p>
            <a:pPr indent="0" marL="0">
              <a:spcAft>
                <a:spcPts val="200"/>
              </a:spcAft>
              <a:buNone/>
            </a:pPr>
            <a:r>
              <a:rPr lang="en-US" sz="1250" dirty="0">
                <a:solidFill>
                  <a:srgbClr val="5CE6B0"/>
                </a:solidFill>
                <a:latin typeface="Calibri" pitchFamily="34" charset="0"/>
                <a:ea typeface="Calibri" pitchFamily="34" charset="-122"/>
                <a:cs typeface="Calibri" pitchFamily="34" charset="-120"/>
              </a:rPr>
              <a:t>a draft, then Confirm</a:t>
            </a:r>
            <a:endParaRPr lang="en-US" sz="1600" dirty="0"/>
          </a:p>
        </p:txBody>
      </p:sp>
      <p:sp>
        <p:nvSpPr>
          <p:cNvPr id="22" name="Shape 20"/>
          <p:cNvSpPr/>
          <p:nvPr/>
        </p:nvSpPr>
        <p:spPr>
          <a:xfrm>
            <a:off x="548640" y="5065776"/>
            <a:ext cx="7086600" cy="804672"/>
          </a:xfrm>
          <a:prstGeom prst="roundRect">
            <a:avLst>
              <a:gd name="adj" fmla="val 50000"/>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23" name="Shape 21"/>
          <p:cNvSpPr/>
          <p:nvPr/>
        </p:nvSpPr>
        <p:spPr>
          <a:xfrm>
            <a:off x="713232" y="5221224"/>
            <a:ext cx="493776" cy="493776"/>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50000"/>
              </a:srgbClr>
            </a:outerShdw>
          </a:effectLst>
        </p:spPr>
      </p:sp>
      <p:sp>
        <p:nvSpPr>
          <p:cNvPr id="24" name="Text 22"/>
          <p:cNvSpPr txBox="1"/>
          <p:nvPr/>
        </p:nvSpPr>
        <p:spPr>
          <a:xfrm>
            <a:off x="713232" y="5221224"/>
            <a:ext cx="493776" cy="493776"/>
          </a:xfrm>
          <a:prstGeom prst="rect">
            <a:avLst/>
          </a:prstGeom>
          <a:noFill/>
          <a:ln/>
        </p:spPr>
        <p:txBody>
          <a:bodyPr wrap="square" lIns="0" tIns="0" rIns="0" bIns="0" rtlCol="0" anchor="ctr"/>
          <a:lstStyle/>
          <a:p>
            <a:pPr algn="ctr" indent="0" marL="0">
              <a:buNone/>
            </a:pPr>
            <a:r>
              <a:rPr lang="en-US" sz="1600" b="1" dirty="0">
                <a:solidFill>
                  <a:srgbClr val="5CE6B0"/>
                </a:solidFill>
                <a:latin typeface="Calibri" pitchFamily="34" charset="0"/>
                <a:ea typeface="Calibri" pitchFamily="34" charset="-122"/>
                <a:cs typeface="Calibri" pitchFamily="34" charset="-120"/>
              </a:rPr>
              <a:t>5</a:t>
            </a:r>
            <a:endParaRPr lang="en-US" sz="1600" dirty="0"/>
          </a:p>
        </p:txBody>
      </p:sp>
      <p:sp>
        <p:nvSpPr>
          <p:cNvPr id="25" name="Text 23"/>
          <p:cNvSpPr txBox="1"/>
          <p:nvPr/>
        </p:nvSpPr>
        <p:spPr>
          <a:xfrm>
            <a:off x="1417320" y="5065776"/>
            <a:ext cx="6080760" cy="804672"/>
          </a:xfrm>
          <a:prstGeom prst="rect">
            <a:avLst/>
          </a:prstGeom>
          <a:noFill/>
          <a:ln/>
        </p:spPr>
        <p:txBody>
          <a:bodyPr wrap="square" lIns="0" tIns="0" rIns="0" bIns="0" rtlCol="0" anchor="ctr"/>
          <a:lstStyle/>
          <a:p>
            <a:pPr indent="0" marL="0">
              <a:spcAft>
                <a:spcPts val="200"/>
              </a:spcAft>
              <a:buNone/>
            </a:pPr>
            <a:r>
              <a:rPr lang="en-US" sz="1600" b="1" dirty="0">
                <a:solidFill>
                  <a:srgbClr val="F4F8FC"/>
                </a:solidFill>
                <a:latin typeface="Calibri" pitchFamily="34" charset="0"/>
                <a:ea typeface="Calibri" pitchFamily="34" charset="-122"/>
                <a:cs typeface="Calibri" pitchFamily="34" charset="-120"/>
              </a:rPr>
              <a:t>Show me Kush's expenses.  What is our parental leave entitlement?</a:t>
            </a:r>
            <a:endParaRPr lang="en-US" sz="1600" dirty="0"/>
          </a:p>
          <a:p>
            <a:pPr indent="0" marL="0">
              <a:spcAft>
                <a:spcPts val="200"/>
              </a:spcAft>
              <a:buNone/>
            </a:pPr>
            <a:r>
              <a:rPr lang="en-US" sz="1250" dirty="0">
                <a:solidFill>
                  <a:srgbClr val="5CE6B0"/>
                </a:solidFill>
                <a:latin typeface="Calibri" pitchFamily="34" charset="0"/>
                <a:ea typeface="Calibri" pitchFamily="34" charset="-122"/>
                <a:cs typeface="Calibri" pitchFamily="34" charset="-120"/>
              </a:rPr>
              <a:t>the limits it keeps</a:t>
            </a:r>
            <a:endParaRPr lang="en-US" sz="1600" dirty="0"/>
          </a:p>
        </p:txBody>
      </p:sp>
      <p:sp>
        <p:nvSpPr>
          <p:cNvPr id="26" name="Shape 24"/>
          <p:cNvSpPr/>
          <p:nvPr/>
        </p:nvSpPr>
        <p:spPr>
          <a:xfrm>
            <a:off x="7909560" y="1371600"/>
            <a:ext cx="3730752" cy="4498848"/>
          </a:xfrm>
          <a:prstGeom prst="roundRect">
            <a:avLst>
              <a:gd name="adj" fmla="val 3431"/>
            </a:avLst>
          </a:prstGeom>
          <a:solidFill>
            <a:srgbClr val="132842">
              <a:alpha val="90000"/>
            </a:srgbClr>
          </a:solidFill>
          <a:ln w="12700">
            <a:solidFill>
              <a:srgbClr val="F2C46D"/>
            </a:solidFill>
            <a:prstDash val="solid"/>
          </a:ln>
          <a:effectLst>
            <a:outerShdw sx="100000" sy="100000" kx="0" ky="0" algn="bl" rotWithShape="0" blurRad="177800" dist="50800" dir="5400000">
              <a:srgbClr val="F2C46D">
                <a:alpha val="55000"/>
              </a:srgbClr>
            </a:outerShdw>
          </a:effectLst>
        </p:spPr>
      </p:sp>
      <p:pic>
        <p:nvPicPr>
          <p:cNvPr id="27" name="Image 0" descr="preencoded.png">    </p:cNvPr>
          <p:cNvPicPr>
            <a:picLocks noChangeAspect="1"/>
          </p:cNvPicPr>
          <p:nvPr/>
        </p:nvPicPr>
        <p:blipFill>
          <a:blip r:embed="rId1"/>
          <a:stretch>
            <a:fillRect/>
          </a:stretch>
        </p:blipFill>
        <p:spPr>
          <a:xfrm>
            <a:off x="8202168" y="1627632"/>
            <a:ext cx="329184" cy="329184"/>
          </a:xfrm>
          <a:prstGeom prst="rect">
            <a:avLst/>
          </a:prstGeom>
        </p:spPr>
      </p:pic>
      <p:sp>
        <p:nvSpPr>
          <p:cNvPr id="28" name="Text 25"/>
          <p:cNvSpPr txBox="1"/>
          <p:nvPr/>
        </p:nvSpPr>
        <p:spPr>
          <a:xfrm>
            <a:off x="8659368" y="1627632"/>
            <a:ext cx="2286000" cy="329184"/>
          </a:xfrm>
          <a:prstGeom prst="rect">
            <a:avLst/>
          </a:prstGeom>
          <a:noFill/>
          <a:ln/>
        </p:spPr>
        <p:txBody>
          <a:bodyPr wrap="square" lIns="0" tIns="0" rIns="0" bIns="0" rtlCol="0" anchor="ctr"/>
          <a:lstStyle/>
          <a:p>
            <a:pPr indent="0" marL="0">
              <a:buNone/>
            </a:pPr>
            <a:r>
              <a:rPr lang="en-US" sz="1200" b="1" spc="300" kern="0" dirty="0">
                <a:solidFill>
                  <a:srgbClr val="F2C46D"/>
                </a:solidFill>
                <a:latin typeface="Calibri" pitchFamily="34" charset="0"/>
                <a:ea typeface="Calibri" pitchFamily="34" charset="-122"/>
                <a:cs typeface="Calibri" pitchFamily="34" charset="-120"/>
              </a:rPr>
              <a:t>WATCH FOR</a:t>
            </a:r>
            <a:endParaRPr lang="en-US" sz="1200" dirty="0"/>
          </a:p>
        </p:txBody>
      </p:sp>
      <p:pic>
        <p:nvPicPr>
          <p:cNvPr id="29" name="Image 1" descr="preencoded.png">    </p:cNvPr>
          <p:cNvPicPr>
            <a:picLocks noChangeAspect="1"/>
          </p:cNvPicPr>
          <p:nvPr/>
        </p:nvPicPr>
        <p:blipFill>
          <a:blip r:embed="rId2"/>
          <a:stretch>
            <a:fillRect/>
          </a:stretch>
        </p:blipFill>
        <p:spPr>
          <a:xfrm>
            <a:off x="8202168" y="2322576"/>
            <a:ext cx="274320" cy="274320"/>
          </a:xfrm>
          <a:prstGeom prst="rect">
            <a:avLst/>
          </a:prstGeom>
        </p:spPr>
      </p:pic>
      <p:sp>
        <p:nvSpPr>
          <p:cNvPr id="30" name="Text 26"/>
          <p:cNvSpPr txBox="1"/>
          <p:nvPr/>
        </p:nvSpPr>
        <p:spPr>
          <a:xfrm>
            <a:off x="8659368" y="2286000"/>
            <a:ext cx="2724912" cy="777240"/>
          </a:xfrm>
          <a:prstGeom prst="rect">
            <a:avLst/>
          </a:prstGeom>
          <a:noFill/>
          <a:ln/>
        </p:spPr>
        <p:txBody>
          <a:bodyPr wrap="square" lIns="0" tIns="0" rIns="0" bIns="0" rtlCol="0" anchor="t"/>
          <a:lstStyle/>
          <a:p>
            <a:pPr indent="0" marL="0">
              <a:buNone/>
            </a:pPr>
            <a:r>
              <a:rPr lang="en-US" sz="1500" dirty="0">
                <a:solidFill>
                  <a:srgbClr val="E6EEF6"/>
                </a:solidFill>
                <a:latin typeface="Calibri" pitchFamily="34" charset="0"/>
                <a:ea typeface="Calibri" pitchFamily="34" charset="-122"/>
                <a:cs typeface="Calibri" pitchFamily="34" charset="-120"/>
              </a:rPr>
              <a:t>The line under each answer: who was asked, and how long it took</a:t>
            </a:r>
            <a:endParaRPr lang="en-US" sz="1500" dirty="0"/>
          </a:p>
        </p:txBody>
      </p:sp>
      <p:pic>
        <p:nvPicPr>
          <p:cNvPr id="31" name="Image 2" descr="preencoded.png">    </p:cNvPr>
          <p:cNvPicPr>
            <a:picLocks noChangeAspect="1"/>
          </p:cNvPicPr>
          <p:nvPr/>
        </p:nvPicPr>
        <p:blipFill>
          <a:blip r:embed="rId3"/>
          <a:stretch>
            <a:fillRect/>
          </a:stretch>
        </p:blipFill>
        <p:spPr>
          <a:xfrm>
            <a:off x="8202168" y="3236976"/>
            <a:ext cx="274320" cy="274320"/>
          </a:xfrm>
          <a:prstGeom prst="rect">
            <a:avLst/>
          </a:prstGeom>
        </p:spPr>
      </p:pic>
      <p:sp>
        <p:nvSpPr>
          <p:cNvPr id="32" name="Text 27"/>
          <p:cNvSpPr txBox="1"/>
          <p:nvPr/>
        </p:nvSpPr>
        <p:spPr>
          <a:xfrm>
            <a:off x="8659368" y="3200400"/>
            <a:ext cx="2724912" cy="548640"/>
          </a:xfrm>
          <a:prstGeom prst="rect">
            <a:avLst/>
          </a:prstGeom>
          <a:noFill/>
          <a:ln/>
        </p:spPr>
        <p:txBody>
          <a:bodyPr wrap="square" lIns="0" tIns="0" rIns="0" bIns="0" rtlCol="0" anchor="t"/>
          <a:lstStyle/>
          <a:p>
            <a:pPr indent="0" marL="0">
              <a:buNone/>
            </a:pPr>
            <a:r>
              <a:rPr lang="en-US" sz="1500" dirty="0">
                <a:solidFill>
                  <a:srgbClr val="E6EEF6"/>
                </a:solidFill>
                <a:latin typeface="Calibri" pitchFamily="34" charset="0"/>
                <a:ea typeface="Calibri" pitchFamily="34" charset="-122"/>
                <a:cs typeface="Calibri" pitchFamily="34" charset="-120"/>
              </a:rPr>
              <a:t>The policy citation chip</a:t>
            </a:r>
            <a:endParaRPr lang="en-US" sz="1500" dirty="0"/>
          </a:p>
        </p:txBody>
      </p:sp>
      <p:pic>
        <p:nvPicPr>
          <p:cNvPr id="33" name="Image 3" descr="preencoded.png">    </p:cNvPr>
          <p:cNvPicPr>
            <a:picLocks noChangeAspect="1"/>
          </p:cNvPicPr>
          <p:nvPr/>
        </p:nvPicPr>
        <p:blipFill>
          <a:blip r:embed="rId4"/>
          <a:stretch>
            <a:fillRect/>
          </a:stretch>
        </p:blipFill>
        <p:spPr>
          <a:xfrm>
            <a:off x="8202168" y="3877056"/>
            <a:ext cx="274320" cy="274320"/>
          </a:xfrm>
          <a:prstGeom prst="rect">
            <a:avLst/>
          </a:prstGeom>
        </p:spPr>
      </p:pic>
      <p:sp>
        <p:nvSpPr>
          <p:cNvPr id="34" name="Text 28"/>
          <p:cNvSpPr txBox="1"/>
          <p:nvPr/>
        </p:nvSpPr>
        <p:spPr>
          <a:xfrm>
            <a:off x="8659368" y="3840480"/>
            <a:ext cx="2724912" cy="548640"/>
          </a:xfrm>
          <a:prstGeom prst="rect">
            <a:avLst/>
          </a:prstGeom>
          <a:noFill/>
          <a:ln/>
        </p:spPr>
        <p:txBody>
          <a:bodyPr wrap="square" lIns="0" tIns="0" rIns="0" bIns="0" rtlCol="0" anchor="t"/>
          <a:lstStyle/>
          <a:p>
            <a:pPr indent="0" marL="0">
              <a:buNone/>
            </a:pPr>
            <a:r>
              <a:rPr lang="en-US" sz="1500" dirty="0">
                <a:solidFill>
                  <a:srgbClr val="E6EEF6"/>
                </a:solidFill>
                <a:latin typeface="Calibri" pitchFamily="34" charset="0"/>
                <a:ea typeface="Calibri" pitchFamily="34" charset="-122"/>
                <a:cs typeface="Calibri" pitchFamily="34" charset="-120"/>
              </a:rPr>
              <a:t>The hand-offs panel</a:t>
            </a:r>
            <a:endParaRPr lang="en-US" sz="1500" dirty="0"/>
          </a:p>
        </p:txBody>
      </p:sp>
      <p:pic>
        <p:nvPicPr>
          <p:cNvPr id="35" name="Image 4" descr="preencoded.png">    </p:cNvPr>
          <p:cNvPicPr>
            <a:picLocks noChangeAspect="1"/>
          </p:cNvPicPr>
          <p:nvPr/>
        </p:nvPicPr>
        <p:blipFill>
          <a:blip r:embed="rId5"/>
          <a:stretch>
            <a:fillRect/>
          </a:stretch>
        </p:blipFill>
        <p:spPr>
          <a:xfrm>
            <a:off x="8202168" y="4517136"/>
            <a:ext cx="274320" cy="274320"/>
          </a:xfrm>
          <a:prstGeom prst="rect">
            <a:avLst/>
          </a:prstGeom>
        </p:spPr>
      </p:pic>
      <p:sp>
        <p:nvSpPr>
          <p:cNvPr id="36" name="Text 29"/>
          <p:cNvSpPr txBox="1"/>
          <p:nvPr/>
        </p:nvSpPr>
        <p:spPr>
          <a:xfrm>
            <a:off x="8659368" y="4480560"/>
            <a:ext cx="2724912" cy="548640"/>
          </a:xfrm>
          <a:prstGeom prst="rect">
            <a:avLst/>
          </a:prstGeom>
          <a:noFill/>
          <a:ln/>
        </p:spPr>
        <p:txBody>
          <a:bodyPr wrap="square" lIns="0" tIns="0" rIns="0" bIns="0" rtlCol="0" anchor="t"/>
          <a:lstStyle/>
          <a:p>
            <a:pPr indent="0" marL="0">
              <a:buNone/>
            </a:pPr>
            <a:r>
              <a:rPr lang="en-US" sz="1500" dirty="0">
                <a:solidFill>
                  <a:srgbClr val="E6EEF6"/>
                </a:solidFill>
                <a:latin typeface="Calibri" pitchFamily="34" charset="0"/>
                <a:ea typeface="Calibri" pitchFamily="34" charset="-122"/>
                <a:cs typeface="Calibri" pitchFamily="34" charset="-120"/>
              </a:rPr>
              <a:t>Nothing is sent until Confirm is clicked</a:t>
            </a:r>
            <a:endParaRPr lang="en-US" sz="15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097280" y="384048"/>
            <a:ext cx="10607040" cy="685800"/>
          </a:xfrm>
          <a:prstGeom prst="rect">
            <a:avLst/>
          </a:prstGeom>
          <a:noFill/>
          <a:ln/>
        </p:spPr>
        <p:txBody>
          <a:bodyPr wrap="square" lIns="0" tIns="0" rIns="0" bIns="0" rtlCol="0" anchor="ctr"/>
          <a:lstStyle/>
          <a:p>
            <a:pPr algn="l" indent="0" marL="0">
              <a:buNone/>
            </a:pPr>
            <a:r>
              <a:rPr lang="en-US" sz="3200" b="1" dirty="0">
                <a:solidFill>
                  <a:srgbClr val="F4F8FC"/>
                </a:solidFill>
                <a:latin typeface="Calibri" pitchFamily="34" charset="0"/>
                <a:ea typeface="Calibri" pitchFamily="34" charset="-122"/>
                <a:cs typeface="Calibri" pitchFamily="34" charset="-120"/>
              </a:rPr>
              <a:t>What it cost us, and what it would cost a corporation</a:t>
            </a:r>
            <a:endParaRPr lang="en-US" sz="3200" dirty="0"/>
          </a:p>
        </p:txBody>
      </p:sp>
      <p:sp>
        <p:nvSpPr>
          <p:cNvPr id="3" name="Shape 1"/>
          <p:cNvSpPr/>
          <p:nvPr/>
        </p:nvSpPr>
        <p:spPr>
          <a:xfrm>
            <a:off x="548640" y="1325880"/>
            <a:ext cx="5449824" cy="4434840"/>
          </a:xfrm>
          <a:prstGeom prst="roundRect">
            <a:avLst>
              <a:gd name="adj" fmla="val 2887"/>
            </a:avLst>
          </a:prstGeom>
          <a:solidFill>
            <a:srgbClr val="132842">
              <a:alpha val="90000"/>
            </a:srgbClr>
          </a:solidFill>
          <a:ln w="12700">
            <a:solidFill>
              <a:srgbClr val="5CE6B0"/>
            </a:solidFill>
            <a:prstDash val="solid"/>
          </a:ln>
          <a:effectLst>
            <a:outerShdw sx="100000" sy="100000" kx="0" ky="0" algn="bl" rotWithShape="0" blurRad="177800" dist="50800" dir="5400000">
              <a:srgbClr val="5CE6B0">
                <a:alpha val="55000"/>
              </a:srgbClr>
            </a:outerShdw>
          </a:effectLst>
        </p:spPr>
      </p:sp>
      <p:sp>
        <p:nvSpPr>
          <p:cNvPr id="4" name="Text 2"/>
          <p:cNvSpPr txBox="1"/>
          <p:nvPr/>
        </p:nvSpPr>
        <p:spPr>
          <a:xfrm>
            <a:off x="868680" y="1600200"/>
            <a:ext cx="3657600" cy="274320"/>
          </a:xfrm>
          <a:prstGeom prst="rect">
            <a:avLst/>
          </a:prstGeom>
          <a:noFill/>
          <a:ln/>
        </p:spPr>
        <p:txBody>
          <a:bodyPr wrap="square" lIns="0" tIns="0" rIns="0" bIns="0" rtlCol="0" anchor="ctr"/>
          <a:lstStyle/>
          <a:p>
            <a:pPr indent="0" marL="0">
              <a:buNone/>
            </a:pPr>
            <a:r>
              <a:rPr lang="en-US" sz="1100" b="1" spc="300" kern="0" dirty="0">
                <a:solidFill>
                  <a:srgbClr val="5CE6B0"/>
                </a:solidFill>
                <a:latin typeface="Calibri" pitchFamily="34" charset="0"/>
                <a:ea typeface="Calibri" pitchFamily="34" charset="-122"/>
                <a:cs typeface="Calibri" pitchFamily="34" charset="-120"/>
              </a:rPr>
              <a:t>WHAT IT COST US</a:t>
            </a:r>
            <a:endParaRPr lang="en-US" sz="1100" dirty="0"/>
          </a:p>
        </p:txBody>
      </p:sp>
      <p:sp>
        <p:nvSpPr>
          <p:cNvPr id="5" name="Text 3"/>
          <p:cNvSpPr txBox="1"/>
          <p:nvPr/>
        </p:nvSpPr>
        <p:spPr>
          <a:xfrm>
            <a:off x="868680" y="1874520"/>
            <a:ext cx="4754880" cy="960120"/>
          </a:xfrm>
          <a:prstGeom prst="rect">
            <a:avLst/>
          </a:prstGeom>
          <a:noFill/>
          <a:ln/>
        </p:spPr>
        <p:txBody>
          <a:bodyPr wrap="square" lIns="0" tIns="0" rIns="0" bIns="0" rtlCol="0" anchor="ctr"/>
          <a:lstStyle/>
          <a:p>
            <a:pPr indent="0" marL="0">
              <a:buNone/>
            </a:pPr>
            <a:r>
              <a:rPr lang="en-US" sz="6800" b="1" dirty="0">
                <a:solidFill>
                  <a:srgbClr val="5CE6B0"/>
                </a:solidFill>
                <a:latin typeface="Calibri" pitchFamily="34" charset="0"/>
                <a:ea typeface="Calibri" pitchFamily="34" charset="-122"/>
                <a:cs typeface="Calibri" pitchFamily="34" charset="-120"/>
              </a:rPr>
              <a:t>$1.91</a:t>
            </a:r>
            <a:endParaRPr lang="en-US" sz="6800" dirty="0"/>
          </a:p>
        </p:txBody>
      </p:sp>
      <p:sp>
        <p:nvSpPr>
          <p:cNvPr id="6" name="Text 4"/>
          <p:cNvSpPr txBox="1"/>
          <p:nvPr/>
        </p:nvSpPr>
        <p:spPr>
          <a:xfrm>
            <a:off x="868680" y="2834640"/>
            <a:ext cx="4809744" cy="548640"/>
          </a:xfrm>
          <a:prstGeom prst="rect">
            <a:avLst/>
          </a:prstGeom>
          <a:noFill/>
          <a:ln/>
        </p:spPr>
        <p:txBody>
          <a:bodyPr wrap="square" lIns="0" tIns="0" rIns="0" bIns="0" rtlCol="0" anchor="t"/>
          <a:lstStyle/>
          <a:p>
            <a:pPr indent="0" marL="0">
              <a:buNone/>
            </a:pPr>
            <a:r>
              <a:rPr lang="en-US" sz="1500" dirty="0">
                <a:solidFill>
                  <a:srgbClr val="DCE6F0"/>
                </a:solidFill>
                <a:latin typeface="Calibri" pitchFamily="34" charset="0"/>
                <a:ea typeface="Calibri" pitchFamily="34" charset="-122"/>
                <a:cs typeface="Calibri" pitchFamily="34" charset="-120"/>
              </a:rPr>
              <a:t>of AWS usage, October 6 to 9. We paid $0: AWS credits covered it.</a:t>
            </a:r>
            <a:endParaRPr lang="en-US" sz="1500" dirty="0"/>
          </a:p>
        </p:txBody>
      </p:sp>
      <p:sp>
        <p:nvSpPr>
          <p:cNvPr id="7" name="Shape 5"/>
          <p:cNvSpPr/>
          <p:nvPr/>
        </p:nvSpPr>
        <p:spPr>
          <a:xfrm>
            <a:off x="777240" y="3502152"/>
            <a:ext cx="4992624" cy="384048"/>
          </a:xfrm>
          <a:prstGeom prst="roundRect">
            <a:avLst>
              <a:gd name="adj" fmla="val 19048"/>
            </a:avLst>
          </a:prstGeom>
          <a:solidFill>
            <a:srgbClr val="FFFFFF">
              <a:alpha val="6000"/>
            </a:srgbClr>
          </a:solidFill>
          <a:ln w="12700">
            <a:solidFill>
              <a:srgbClr val="FFFFFF">
                <a:alpha val="0"/>
              </a:srgbClr>
            </a:solidFill>
            <a:prstDash val="solid"/>
          </a:ln>
        </p:spPr>
      </p:sp>
      <p:sp>
        <p:nvSpPr>
          <p:cNvPr id="8" name="Text 6"/>
          <p:cNvSpPr txBox="1"/>
          <p:nvPr/>
        </p:nvSpPr>
        <p:spPr>
          <a:xfrm>
            <a:off x="914400" y="3502152"/>
            <a:ext cx="3291840" cy="384048"/>
          </a:xfrm>
          <a:prstGeom prst="rect">
            <a:avLst/>
          </a:prstGeom>
          <a:noFill/>
          <a:ln/>
        </p:spPr>
        <p:txBody>
          <a:bodyPr wrap="square" lIns="0" tIns="0" rIns="0" bIns="0" rtlCol="0" anchor="ctr"/>
          <a:lstStyle/>
          <a:p>
            <a:pPr indent="0" marL="0">
              <a:buNone/>
            </a:pPr>
            <a:r>
              <a:rPr lang="en-US" sz="1400" dirty="0">
                <a:solidFill>
                  <a:srgbClr val="DCE6F0"/>
                </a:solidFill>
                <a:latin typeface="Calibri" pitchFamily="34" charset="0"/>
                <a:ea typeface="Calibri" pitchFamily="34" charset="-122"/>
                <a:cs typeface="Calibri" pitchFamily="34" charset="-120"/>
              </a:rPr>
              <a:t>Amazon Bedrock (the model):</a:t>
            </a:r>
            <a:endParaRPr lang="en-US" sz="1400" dirty="0"/>
          </a:p>
        </p:txBody>
      </p:sp>
      <p:sp>
        <p:nvSpPr>
          <p:cNvPr id="9" name="Text 7"/>
          <p:cNvSpPr txBox="1"/>
          <p:nvPr/>
        </p:nvSpPr>
        <p:spPr>
          <a:xfrm>
            <a:off x="4032504" y="3502152"/>
            <a:ext cx="1600200" cy="384048"/>
          </a:xfrm>
          <a:prstGeom prst="rect">
            <a:avLst/>
          </a:prstGeom>
          <a:noFill/>
          <a:ln/>
        </p:spPr>
        <p:txBody>
          <a:bodyPr wrap="square" lIns="0" tIns="0" rIns="0" bIns="0" rtlCol="0" anchor="ctr"/>
          <a:lstStyle/>
          <a:p>
            <a:pPr algn="r" indent="0" marL="0">
              <a:buNone/>
            </a:pPr>
            <a:r>
              <a:rPr lang="en-US" sz="1400" b="1" dirty="0">
                <a:solidFill>
                  <a:srgbClr val="F4F8FC"/>
                </a:solidFill>
                <a:latin typeface="Calibri" pitchFamily="34" charset="0"/>
                <a:ea typeface="Calibri" pitchFamily="34" charset="-122"/>
                <a:cs typeface="Calibri" pitchFamily="34" charset="-120"/>
              </a:rPr>
              <a:t>$0.74</a:t>
            </a:r>
            <a:endParaRPr lang="en-US" sz="1400" dirty="0"/>
          </a:p>
        </p:txBody>
      </p:sp>
      <p:sp>
        <p:nvSpPr>
          <p:cNvPr id="10" name="Text 8"/>
          <p:cNvSpPr txBox="1"/>
          <p:nvPr/>
        </p:nvSpPr>
        <p:spPr>
          <a:xfrm>
            <a:off x="914400" y="3904488"/>
            <a:ext cx="3291840" cy="384048"/>
          </a:xfrm>
          <a:prstGeom prst="rect">
            <a:avLst/>
          </a:prstGeom>
          <a:noFill/>
          <a:ln/>
        </p:spPr>
        <p:txBody>
          <a:bodyPr wrap="square" lIns="0" tIns="0" rIns="0" bIns="0" rtlCol="0" anchor="ctr"/>
          <a:lstStyle/>
          <a:p>
            <a:pPr indent="0" marL="0">
              <a:buNone/>
            </a:pPr>
            <a:r>
              <a:rPr lang="en-US" sz="1400" dirty="0">
                <a:solidFill>
                  <a:srgbClr val="DCE6F0"/>
                </a:solidFill>
                <a:latin typeface="Calibri" pitchFamily="34" charset="0"/>
                <a:ea typeface="Calibri" pitchFamily="34" charset="-122"/>
                <a:cs typeface="Calibri" pitchFamily="34" charset="-120"/>
              </a:rPr>
              <a:t>Amazon EC2 server:</a:t>
            </a:r>
            <a:endParaRPr lang="en-US" sz="1400" dirty="0"/>
          </a:p>
        </p:txBody>
      </p:sp>
      <p:sp>
        <p:nvSpPr>
          <p:cNvPr id="11" name="Text 9"/>
          <p:cNvSpPr txBox="1"/>
          <p:nvPr/>
        </p:nvSpPr>
        <p:spPr>
          <a:xfrm>
            <a:off x="4032504" y="3904488"/>
            <a:ext cx="1600200" cy="384048"/>
          </a:xfrm>
          <a:prstGeom prst="rect">
            <a:avLst/>
          </a:prstGeom>
          <a:noFill/>
          <a:ln/>
        </p:spPr>
        <p:txBody>
          <a:bodyPr wrap="square" lIns="0" tIns="0" rIns="0" bIns="0" rtlCol="0" anchor="ctr"/>
          <a:lstStyle/>
          <a:p>
            <a:pPr algn="r" indent="0" marL="0">
              <a:buNone/>
            </a:pPr>
            <a:r>
              <a:rPr lang="en-US" sz="1400" b="1" dirty="0">
                <a:solidFill>
                  <a:srgbClr val="F4F8FC"/>
                </a:solidFill>
                <a:latin typeface="Calibri" pitchFamily="34" charset="0"/>
                <a:ea typeface="Calibri" pitchFamily="34" charset="-122"/>
                <a:cs typeface="Calibri" pitchFamily="34" charset="-120"/>
              </a:rPr>
              <a:t>$0.66</a:t>
            </a:r>
            <a:endParaRPr lang="en-US" sz="1400" dirty="0"/>
          </a:p>
        </p:txBody>
      </p:sp>
      <p:sp>
        <p:nvSpPr>
          <p:cNvPr id="12" name="Shape 10"/>
          <p:cNvSpPr/>
          <p:nvPr/>
        </p:nvSpPr>
        <p:spPr>
          <a:xfrm>
            <a:off x="777240" y="4306824"/>
            <a:ext cx="4992624" cy="384048"/>
          </a:xfrm>
          <a:prstGeom prst="roundRect">
            <a:avLst>
              <a:gd name="adj" fmla="val 19048"/>
            </a:avLst>
          </a:prstGeom>
          <a:solidFill>
            <a:srgbClr val="FFFFFF">
              <a:alpha val="6000"/>
            </a:srgbClr>
          </a:solidFill>
          <a:ln w="12700">
            <a:solidFill>
              <a:srgbClr val="FFFFFF">
                <a:alpha val="0"/>
              </a:srgbClr>
            </a:solidFill>
            <a:prstDash val="solid"/>
          </a:ln>
        </p:spPr>
      </p:sp>
      <p:sp>
        <p:nvSpPr>
          <p:cNvPr id="13" name="Text 11"/>
          <p:cNvSpPr txBox="1"/>
          <p:nvPr/>
        </p:nvSpPr>
        <p:spPr>
          <a:xfrm>
            <a:off x="914400" y="4306824"/>
            <a:ext cx="3291840" cy="384048"/>
          </a:xfrm>
          <a:prstGeom prst="rect">
            <a:avLst/>
          </a:prstGeom>
          <a:noFill/>
          <a:ln/>
        </p:spPr>
        <p:txBody>
          <a:bodyPr wrap="square" lIns="0" tIns="0" rIns="0" bIns="0" rtlCol="0" anchor="ctr"/>
          <a:lstStyle/>
          <a:p>
            <a:pPr indent="0" marL="0">
              <a:buNone/>
            </a:pPr>
            <a:r>
              <a:rPr lang="en-US" sz="1400" dirty="0">
                <a:solidFill>
                  <a:srgbClr val="DCE6F0"/>
                </a:solidFill>
                <a:latin typeface="Calibri" pitchFamily="34" charset="0"/>
                <a:ea typeface="Calibri" pitchFamily="34" charset="-122"/>
                <a:cs typeface="Calibri" pitchFamily="34" charset="-120"/>
              </a:rPr>
              <a:t>Disk and public address:</a:t>
            </a:r>
            <a:endParaRPr lang="en-US" sz="1400" dirty="0"/>
          </a:p>
        </p:txBody>
      </p:sp>
      <p:sp>
        <p:nvSpPr>
          <p:cNvPr id="14" name="Text 12"/>
          <p:cNvSpPr txBox="1"/>
          <p:nvPr/>
        </p:nvSpPr>
        <p:spPr>
          <a:xfrm>
            <a:off x="4032504" y="4306824"/>
            <a:ext cx="1600200" cy="384048"/>
          </a:xfrm>
          <a:prstGeom prst="rect">
            <a:avLst/>
          </a:prstGeom>
          <a:noFill/>
          <a:ln/>
        </p:spPr>
        <p:txBody>
          <a:bodyPr wrap="square" lIns="0" tIns="0" rIns="0" bIns="0" rtlCol="0" anchor="ctr"/>
          <a:lstStyle/>
          <a:p>
            <a:pPr algn="r" indent="0" marL="0">
              <a:buNone/>
            </a:pPr>
            <a:r>
              <a:rPr lang="en-US" sz="1400" b="1" dirty="0">
                <a:solidFill>
                  <a:srgbClr val="F4F8FC"/>
                </a:solidFill>
                <a:latin typeface="Calibri" pitchFamily="34" charset="0"/>
                <a:ea typeface="Calibri" pitchFamily="34" charset="-122"/>
                <a:cs typeface="Calibri" pitchFamily="34" charset="-120"/>
              </a:rPr>
              <a:t>$0.51</a:t>
            </a:r>
            <a:endParaRPr lang="en-US" sz="1400" dirty="0"/>
          </a:p>
        </p:txBody>
      </p:sp>
      <p:sp>
        <p:nvSpPr>
          <p:cNvPr id="15" name="Text 13"/>
          <p:cNvSpPr txBox="1"/>
          <p:nvPr/>
        </p:nvSpPr>
        <p:spPr>
          <a:xfrm>
            <a:off x="914400" y="4709160"/>
            <a:ext cx="3291840" cy="384048"/>
          </a:xfrm>
          <a:prstGeom prst="rect">
            <a:avLst/>
          </a:prstGeom>
          <a:noFill/>
          <a:ln/>
        </p:spPr>
        <p:txBody>
          <a:bodyPr wrap="square" lIns="0" tIns="0" rIns="0" bIns="0" rtlCol="0" anchor="ctr"/>
          <a:lstStyle/>
          <a:p>
            <a:pPr indent="0" marL="0">
              <a:buNone/>
            </a:pPr>
            <a:r>
              <a:rPr lang="en-US" sz="1400" dirty="0">
                <a:solidFill>
                  <a:srgbClr val="DCE6F0"/>
                </a:solidFill>
                <a:latin typeface="Calibri" pitchFamily="34" charset="0"/>
                <a:ea typeface="Calibri" pitchFamily="34" charset="-122"/>
                <a:cs typeface="Calibri" pitchFamily="34" charset="-120"/>
              </a:rPr>
              <a:t>DynamoDB and S3:</a:t>
            </a:r>
            <a:endParaRPr lang="en-US" sz="1400" dirty="0"/>
          </a:p>
        </p:txBody>
      </p:sp>
      <p:sp>
        <p:nvSpPr>
          <p:cNvPr id="16" name="Text 14"/>
          <p:cNvSpPr txBox="1"/>
          <p:nvPr/>
        </p:nvSpPr>
        <p:spPr>
          <a:xfrm>
            <a:off x="4032504" y="4709160"/>
            <a:ext cx="1600200" cy="384048"/>
          </a:xfrm>
          <a:prstGeom prst="rect">
            <a:avLst/>
          </a:prstGeom>
          <a:noFill/>
          <a:ln/>
        </p:spPr>
        <p:txBody>
          <a:bodyPr wrap="square" lIns="0" tIns="0" rIns="0" bIns="0" rtlCol="0" anchor="ctr"/>
          <a:lstStyle/>
          <a:p>
            <a:pPr algn="r" indent="0" marL="0">
              <a:buNone/>
            </a:pPr>
            <a:r>
              <a:rPr lang="en-US" sz="1400" b="1" dirty="0">
                <a:solidFill>
                  <a:srgbClr val="F4F8FC"/>
                </a:solidFill>
                <a:latin typeface="Calibri" pitchFamily="34" charset="0"/>
                <a:ea typeface="Calibri" pitchFamily="34" charset="-122"/>
                <a:cs typeface="Calibri" pitchFamily="34" charset="-120"/>
              </a:rPr>
              <a:t>under 1 cent</a:t>
            </a:r>
            <a:endParaRPr lang="en-US" sz="1400" dirty="0"/>
          </a:p>
        </p:txBody>
      </p:sp>
      <p:pic>
        <p:nvPicPr>
          <p:cNvPr id="17" name="Image 0" descr="preencoded.png">    </p:cNvPr>
          <p:cNvPicPr>
            <a:picLocks noChangeAspect="1"/>
          </p:cNvPicPr>
          <p:nvPr/>
        </p:nvPicPr>
        <p:blipFill>
          <a:blip r:embed="rId1"/>
          <a:stretch>
            <a:fillRect/>
          </a:stretch>
        </p:blipFill>
        <p:spPr>
          <a:xfrm>
            <a:off x="914400" y="5221224"/>
            <a:ext cx="274320" cy="274320"/>
          </a:xfrm>
          <a:prstGeom prst="rect">
            <a:avLst/>
          </a:prstGeom>
        </p:spPr>
      </p:pic>
      <p:sp>
        <p:nvSpPr>
          <p:cNvPr id="18" name="Text 15"/>
          <p:cNvSpPr txBox="1"/>
          <p:nvPr/>
        </p:nvSpPr>
        <p:spPr>
          <a:xfrm>
            <a:off x="1325880" y="5166360"/>
            <a:ext cx="4443984" cy="384048"/>
          </a:xfrm>
          <a:prstGeom prst="rect">
            <a:avLst/>
          </a:prstGeom>
          <a:noFill/>
          <a:ln/>
        </p:spPr>
        <p:txBody>
          <a:bodyPr wrap="square" lIns="0" tIns="0" rIns="0" bIns="0" rtlCol="0" anchor="ctr"/>
          <a:lstStyle/>
          <a:p>
            <a:pPr indent="0" marL="0">
              <a:buNone/>
            </a:pPr>
            <a:r>
              <a:rPr lang="en-US" sz="1400" b="1" dirty="0">
                <a:solidFill>
                  <a:srgbClr val="5CE6B0"/>
                </a:solidFill>
                <a:latin typeface="Calibri" pitchFamily="34" charset="0"/>
                <a:ea typeface="Calibri" pitchFamily="34" charset="-122"/>
                <a:cs typeface="Calibri" pitchFamily="34" charset="-120"/>
              </a:rPr>
              <a:t>Two people; the core was built in one day</a:t>
            </a:r>
            <a:endParaRPr lang="en-US" sz="1400" dirty="0"/>
          </a:p>
        </p:txBody>
      </p:sp>
      <p:sp>
        <p:nvSpPr>
          <p:cNvPr id="19" name="Shape 16"/>
          <p:cNvSpPr/>
          <p:nvPr/>
        </p:nvSpPr>
        <p:spPr>
          <a:xfrm>
            <a:off x="6190488" y="1325880"/>
            <a:ext cx="5449824" cy="4434840"/>
          </a:xfrm>
          <a:prstGeom prst="roundRect">
            <a:avLst>
              <a:gd name="adj" fmla="val 2887"/>
            </a:avLst>
          </a:prstGeom>
          <a:solidFill>
            <a:srgbClr val="132842">
              <a:alpha val="90000"/>
            </a:srgbClr>
          </a:solidFill>
          <a:ln w="12700">
            <a:solidFill>
              <a:srgbClr val="F2C46D"/>
            </a:solidFill>
            <a:prstDash val="solid"/>
          </a:ln>
          <a:effectLst>
            <a:outerShdw sx="100000" sy="100000" kx="0" ky="0" algn="bl" rotWithShape="0" blurRad="177800" dist="50800" dir="5400000">
              <a:srgbClr val="F2C46D">
                <a:alpha val="55000"/>
              </a:srgbClr>
            </a:outerShdw>
          </a:effectLst>
        </p:spPr>
      </p:sp>
      <p:sp>
        <p:nvSpPr>
          <p:cNvPr id="20" name="Text 17"/>
          <p:cNvSpPr txBox="1"/>
          <p:nvPr/>
        </p:nvSpPr>
        <p:spPr>
          <a:xfrm>
            <a:off x="6510528" y="1600200"/>
            <a:ext cx="4572000" cy="274320"/>
          </a:xfrm>
          <a:prstGeom prst="rect">
            <a:avLst/>
          </a:prstGeom>
          <a:noFill/>
          <a:ln/>
        </p:spPr>
        <p:txBody>
          <a:bodyPr wrap="square" lIns="0" tIns="0" rIns="0" bIns="0" rtlCol="0" anchor="ctr"/>
          <a:lstStyle/>
          <a:p>
            <a:pPr indent="0" marL="0">
              <a:buNone/>
            </a:pPr>
            <a:r>
              <a:rPr lang="en-US" sz="1100" b="1" spc="300" kern="0" dirty="0">
                <a:solidFill>
                  <a:srgbClr val="F2C46D"/>
                </a:solidFill>
                <a:latin typeface="Calibri" pitchFamily="34" charset="0"/>
                <a:ea typeface="Calibri" pitchFamily="34" charset="-122"/>
                <a:cs typeface="Calibri" pitchFamily="34" charset="-120"/>
              </a:rPr>
              <a:t>A LARGE COMPANY, OUR ESTIMATE</a:t>
            </a:r>
            <a:endParaRPr lang="en-US" sz="1100" dirty="0"/>
          </a:p>
        </p:txBody>
      </p:sp>
      <p:sp>
        <p:nvSpPr>
          <p:cNvPr id="21" name="Text 18"/>
          <p:cNvSpPr txBox="1"/>
          <p:nvPr/>
        </p:nvSpPr>
        <p:spPr>
          <a:xfrm>
            <a:off x="6510528" y="1874520"/>
            <a:ext cx="4937760" cy="960120"/>
          </a:xfrm>
          <a:prstGeom prst="rect">
            <a:avLst/>
          </a:prstGeom>
          <a:noFill/>
          <a:ln/>
        </p:spPr>
        <p:txBody>
          <a:bodyPr wrap="square" lIns="0" tIns="0" rIns="0" bIns="0" rtlCol="0" anchor="ctr"/>
          <a:lstStyle/>
          <a:p>
            <a:pPr indent="0" marL="0">
              <a:buNone/>
            </a:pPr>
            <a:r>
              <a:rPr lang="en-US" sz="5200" b="1" dirty="0">
                <a:solidFill>
                  <a:srgbClr val="F2C46D"/>
                </a:solidFill>
                <a:latin typeface="Calibri" pitchFamily="34" charset="0"/>
                <a:ea typeface="Calibri" pitchFamily="34" charset="-122"/>
                <a:cs typeface="Calibri" pitchFamily="34" charset="-120"/>
              </a:rPr>
              <a:t>$300K to $500K</a:t>
            </a:r>
            <a:endParaRPr lang="en-US" sz="5200" dirty="0"/>
          </a:p>
        </p:txBody>
      </p:sp>
      <p:sp>
        <p:nvSpPr>
          <p:cNvPr id="22" name="Text 19"/>
          <p:cNvSpPr txBox="1"/>
          <p:nvPr/>
        </p:nvSpPr>
        <p:spPr>
          <a:xfrm>
            <a:off x="6510528" y="2834640"/>
            <a:ext cx="4809744" cy="548640"/>
          </a:xfrm>
          <a:prstGeom prst="rect">
            <a:avLst/>
          </a:prstGeom>
          <a:noFill/>
          <a:ln/>
        </p:spPr>
        <p:txBody>
          <a:bodyPr wrap="square" lIns="0" tIns="0" rIns="0" bIns="0" rtlCol="0" anchor="t"/>
          <a:lstStyle/>
          <a:p>
            <a:pPr indent="0" marL="0">
              <a:buNone/>
            </a:pPr>
            <a:r>
              <a:rPr lang="en-US" sz="1500" dirty="0">
                <a:solidFill>
                  <a:srgbClr val="DCE6F0"/>
                </a:solidFill>
                <a:latin typeface="Calibri" pitchFamily="34" charset="0"/>
                <a:ea typeface="Calibri" pitchFamily="34" charset="-122"/>
                <a:cs typeface="Calibri" pitchFamily="34" charset="-120"/>
              </a:rPr>
              <a:t>for a first production release: about 6 people for 3 to 6 months.</a:t>
            </a:r>
            <a:endParaRPr lang="en-US" sz="1500" dirty="0"/>
          </a:p>
        </p:txBody>
      </p:sp>
      <p:pic>
        <p:nvPicPr>
          <p:cNvPr id="23" name="Image 1" descr="preencoded.png">    </p:cNvPr>
          <p:cNvPicPr>
            <a:picLocks noChangeAspect="1"/>
          </p:cNvPicPr>
          <p:nvPr/>
        </p:nvPicPr>
        <p:blipFill>
          <a:blip r:embed="rId2"/>
          <a:stretch>
            <a:fillRect/>
          </a:stretch>
        </p:blipFill>
        <p:spPr>
          <a:xfrm>
            <a:off x="6556248" y="3575304"/>
            <a:ext cx="256032" cy="256032"/>
          </a:xfrm>
          <a:prstGeom prst="rect">
            <a:avLst/>
          </a:prstGeom>
        </p:spPr>
      </p:pic>
      <p:sp>
        <p:nvSpPr>
          <p:cNvPr id="24" name="Text 20"/>
          <p:cNvSpPr txBox="1"/>
          <p:nvPr/>
        </p:nvSpPr>
        <p:spPr>
          <a:xfrm>
            <a:off x="6967728" y="3502152"/>
            <a:ext cx="4443984" cy="402336"/>
          </a:xfrm>
          <a:prstGeom prst="rect">
            <a:avLst/>
          </a:prstGeom>
          <a:noFill/>
          <a:ln/>
        </p:spPr>
        <p:txBody>
          <a:bodyPr wrap="square" lIns="0" tIns="0" rIns="0" bIns="0" rtlCol="0" anchor="ctr"/>
          <a:lstStyle/>
          <a:p>
            <a:pPr indent="0" marL="0">
              <a:buNone/>
            </a:pPr>
            <a:r>
              <a:rPr lang="en-US" sz="1400" dirty="0">
                <a:solidFill>
                  <a:srgbClr val="DCE6F0"/>
                </a:solidFill>
                <a:latin typeface="Calibri" pitchFamily="34" charset="0"/>
                <a:ea typeface="Calibri" pitchFamily="34" charset="-122"/>
                <a:cs typeface="Calibri" pitchFamily="34" charset="-120"/>
              </a:rPr>
              <a:t>Live connections to the real HR, project and IT systems</a:t>
            </a:r>
            <a:endParaRPr lang="en-US" sz="1400" dirty="0"/>
          </a:p>
        </p:txBody>
      </p:sp>
      <p:pic>
        <p:nvPicPr>
          <p:cNvPr id="25" name="Image 2" descr="preencoded.png">    </p:cNvPr>
          <p:cNvPicPr>
            <a:picLocks noChangeAspect="1"/>
          </p:cNvPicPr>
          <p:nvPr/>
        </p:nvPicPr>
        <p:blipFill>
          <a:blip r:embed="rId3"/>
          <a:stretch>
            <a:fillRect/>
          </a:stretch>
        </p:blipFill>
        <p:spPr>
          <a:xfrm>
            <a:off x="6556248" y="4032504"/>
            <a:ext cx="256032" cy="256032"/>
          </a:xfrm>
          <a:prstGeom prst="rect">
            <a:avLst/>
          </a:prstGeom>
        </p:spPr>
      </p:pic>
      <p:sp>
        <p:nvSpPr>
          <p:cNvPr id="26" name="Text 21"/>
          <p:cNvSpPr txBox="1"/>
          <p:nvPr/>
        </p:nvSpPr>
        <p:spPr>
          <a:xfrm>
            <a:off x="6967728" y="3959352"/>
            <a:ext cx="4443984" cy="402336"/>
          </a:xfrm>
          <a:prstGeom prst="rect">
            <a:avLst/>
          </a:prstGeom>
          <a:noFill/>
          <a:ln/>
        </p:spPr>
        <p:txBody>
          <a:bodyPr wrap="square" lIns="0" tIns="0" rIns="0" bIns="0" rtlCol="0" anchor="ctr"/>
          <a:lstStyle/>
          <a:p>
            <a:pPr indent="0" marL="0">
              <a:buNone/>
            </a:pPr>
            <a:r>
              <a:rPr lang="en-US" sz="1400" dirty="0">
                <a:solidFill>
                  <a:srgbClr val="DCE6F0"/>
                </a:solidFill>
                <a:latin typeface="Calibri" pitchFamily="34" charset="0"/>
                <a:ea typeface="Calibri" pitchFamily="34" charset="-122"/>
                <a:cs typeface="Calibri" pitchFamily="34" charset="-120"/>
              </a:rPr>
              <a:t>Single sign-on, security and privacy review</a:t>
            </a:r>
            <a:endParaRPr lang="en-US" sz="1400" dirty="0"/>
          </a:p>
        </p:txBody>
      </p:sp>
      <p:pic>
        <p:nvPicPr>
          <p:cNvPr id="27" name="Image 3" descr="preencoded.png">    </p:cNvPr>
          <p:cNvPicPr>
            <a:picLocks noChangeAspect="1"/>
          </p:cNvPicPr>
          <p:nvPr/>
        </p:nvPicPr>
        <p:blipFill>
          <a:blip r:embed="rId4"/>
          <a:stretch>
            <a:fillRect/>
          </a:stretch>
        </p:blipFill>
        <p:spPr>
          <a:xfrm>
            <a:off x="6556248" y="4489704"/>
            <a:ext cx="256032" cy="256032"/>
          </a:xfrm>
          <a:prstGeom prst="rect">
            <a:avLst/>
          </a:prstGeom>
        </p:spPr>
      </p:pic>
      <p:sp>
        <p:nvSpPr>
          <p:cNvPr id="28" name="Text 22"/>
          <p:cNvSpPr txBox="1"/>
          <p:nvPr/>
        </p:nvSpPr>
        <p:spPr>
          <a:xfrm>
            <a:off x="6967728" y="4416552"/>
            <a:ext cx="4443984" cy="402336"/>
          </a:xfrm>
          <a:prstGeom prst="rect">
            <a:avLst/>
          </a:prstGeom>
          <a:noFill/>
          <a:ln/>
        </p:spPr>
        <p:txBody>
          <a:bodyPr wrap="square" lIns="0" tIns="0" rIns="0" bIns="0" rtlCol="0" anchor="ctr"/>
          <a:lstStyle/>
          <a:p>
            <a:pPr indent="0" marL="0">
              <a:buNone/>
            </a:pPr>
            <a:r>
              <a:rPr lang="en-US" sz="1400" dirty="0">
                <a:solidFill>
                  <a:srgbClr val="DCE6F0"/>
                </a:solidFill>
                <a:latin typeface="Calibri" pitchFamily="34" charset="0"/>
                <a:ea typeface="Calibri" pitchFamily="34" charset="-122"/>
                <a:cs typeface="Calibri" pitchFamily="34" charset="-120"/>
              </a:rPr>
              <a:t>Testing, support and rollout to every employee</a:t>
            </a:r>
            <a:endParaRPr lang="en-US" sz="1400" dirty="0"/>
          </a:p>
        </p:txBody>
      </p:sp>
      <p:sp>
        <p:nvSpPr>
          <p:cNvPr id="29" name="Shape 23"/>
          <p:cNvSpPr/>
          <p:nvPr/>
        </p:nvSpPr>
        <p:spPr>
          <a:xfrm>
            <a:off x="6419088" y="4937760"/>
            <a:ext cx="4992624" cy="621792"/>
          </a:xfrm>
          <a:prstGeom prst="roundRect">
            <a:avLst>
              <a:gd name="adj" fmla="val 14706"/>
            </a:avLst>
          </a:prstGeom>
          <a:solidFill>
            <a:srgbClr val="F2C46D">
              <a:alpha val="12000"/>
            </a:srgbClr>
          </a:solidFill>
          <a:ln w="9525">
            <a:solidFill>
              <a:srgbClr val="F2C46D">
                <a:alpha val="60000"/>
              </a:srgbClr>
            </a:solidFill>
            <a:prstDash val="solid"/>
          </a:ln>
        </p:spPr>
      </p:sp>
      <p:pic>
        <p:nvPicPr>
          <p:cNvPr id="30" name="Image 4" descr="preencoded.png">    </p:cNvPr>
          <p:cNvPicPr>
            <a:picLocks noChangeAspect="1"/>
          </p:cNvPicPr>
          <p:nvPr/>
        </p:nvPicPr>
        <p:blipFill>
          <a:blip r:embed="rId5"/>
          <a:stretch>
            <a:fillRect/>
          </a:stretch>
        </p:blipFill>
        <p:spPr>
          <a:xfrm>
            <a:off x="6556248" y="5093208"/>
            <a:ext cx="292608" cy="292608"/>
          </a:xfrm>
          <a:prstGeom prst="rect">
            <a:avLst/>
          </a:prstGeom>
        </p:spPr>
      </p:pic>
      <p:sp>
        <p:nvSpPr>
          <p:cNvPr id="31" name="Text 24"/>
          <p:cNvSpPr txBox="1"/>
          <p:nvPr/>
        </p:nvSpPr>
        <p:spPr>
          <a:xfrm>
            <a:off x="6967728" y="4937760"/>
            <a:ext cx="4352544" cy="621792"/>
          </a:xfrm>
          <a:prstGeom prst="rect">
            <a:avLst/>
          </a:prstGeom>
          <a:noFill/>
          <a:ln/>
        </p:spPr>
        <p:txBody>
          <a:bodyPr wrap="square" lIns="0" tIns="0" rIns="0" bIns="0" rtlCol="0" anchor="ctr"/>
          <a:lstStyle/>
          <a:p>
            <a:pPr indent="0" marL="0">
              <a:buNone/>
            </a:pPr>
            <a:r>
              <a:rPr lang="en-US" sz="1400" b="1" dirty="0">
                <a:solidFill>
                  <a:srgbClr val="F4F8FC"/>
                </a:solidFill>
                <a:latin typeface="Calibri" pitchFamily="34" charset="0"/>
                <a:ea typeface="Calibri" pitchFamily="34" charset="-122"/>
                <a:cs typeface="Calibri" pitchFamily="34" charset="-120"/>
              </a:rPr>
              <a:t>Then under $3,000 a month in model usage for 5,000 employees</a:t>
            </a:r>
            <a:endParaRPr lang="en-US" sz="1400" dirty="0"/>
          </a:p>
        </p:txBody>
      </p:sp>
      <p:sp>
        <p:nvSpPr>
          <p:cNvPr id="32" name="Text 25"/>
          <p:cNvSpPr txBox="1"/>
          <p:nvPr/>
        </p:nvSpPr>
        <p:spPr>
          <a:xfrm>
            <a:off x="548640" y="5833872"/>
            <a:ext cx="11091672" cy="457200"/>
          </a:xfrm>
          <a:prstGeom prst="rect">
            <a:avLst/>
          </a:prstGeom>
          <a:noFill/>
          <a:ln/>
        </p:spPr>
        <p:txBody>
          <a:bodyPr wrap="square" lIns="0" tIns="0" rIns="0" bIns="0" rtlCol="0" anchor="t"/>
          <a:lstStyle/>
          <a:p>
            <a:pPr indent="0" marL="0">
              <a:buNone/>
            </a:pPr>
            <a:r>
              <a:rPr lang="en-US" sz="1100" i="1" dirty="0">
                <a:solidFill>
                  <a:srgbClr val="A3B5C9"/>
                </a:solidFill>
                <a:latin typeface="Calibri" pitchFamily="34" charset="0"/>
                <a:ea typeface="Calibri" pitchFamily="34" charset="-122"/>
                <a:cs typeface="Calibri" pitchFamily="34" charset="-120"/>
              </a:rPr>
              <a:t>Left: actual figures from AWS Cost Explorer for the hosting account. Right: our estimate, assuming loaded staff cost near $85 an hour, 5 questions per employee per working day, and under half a cent per question.</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097280" y="384048"/>
            <a:ext cx="10607040" cy="685800"/>
          </a:xfrm>
          <a:prstGeom prst="rect">
            <a:avLst/>
          </a:prstGeom>
          <a:noFill/>
          <a:ln/>
        </p:spPr>
        <p:txBody>
          <a:bodyPr wrap="square" lIns="0" tIns="0" rIns="0" bIns="0" rtlCol="0" anchor="ctr"/>
          <a:lstStyle/>
          <a:p>
            <a:pPr algn="l" indent="0" marL="0">
              <a:buNone/>
            </a:pPr>
            <a:r>
              <a:rPr lang="en-US" sz="3200" b="1" dirty="0">
                <a:solidFill>
                  <a:srgbClr val="F4F8FC"/>
                </a:solidFill>
                <a:latin typeface="Calibri" pitchFamily="34" charset="0"/>
                <a:ea typeface="Calibri" pitchFamily="34" charset="-122"/>
                <a:cs typeface="Calibri" pitchFamily="34" charset="-120"/>
              </a:rPr>
              <a:t>Your turn: try it</a:t>
            </a:r>
            <a:endParaRPr lang="en-US" sz="3200" dirty="0"/>
          </a:p>
        </p:txBody>
      </p:sp>
      <p:sp>
        <p:nvSpPr>
          <p:cNvPr id="3" name="Shape 1"/>
          <p:cNvSpPr/>
          <p:nvPr/>
        </p:nvSpPr>
        <p:spPr>
          <a:xfrm>
            <a:off x="685800" y="1417320"/>
            <a:ext cx="3429000" cy="3429000"/>
          </a:xfrm>
          <a:prstGeom prst="roundRect">
            <a:avLst>
              <a:gd name="adj" fmla="val 6667"/>
            </a:avLst>
          </a:prstGeom>
          <a:solidFill>
            <a:srgbClr val="FFFFFF"/>
          </a:solidFill>
          <a:ln w="25400">
            <a:solidFill>
              <a:srgbClr val="8EE3F5"/>
            </a:solidFill>
            <a:prstDash val="solid"/>
          </a:ln>
          <a:effectLst>
            <a:outerShdw sx="100000" sy="100000" kx="0" ky="0" algn="bl" rotWithShape="0" blurRad="355600" dist="50800" dir="5400000">
              <a:srgbClr val="8EE3F5">
                <a:alpha val="60000"/>
              </a:srgbClr>
            </a:outerShdw>
          </a:effectLst>
        </p:spPr>
      </p:sp>
      <p:pic>
        <p:nvPicPr>
          <p:cNvPr id="4" name="Image 0" descr="QR code that opens http://3.214.41.73">    </p:cNvPr>
          <p:cNvPicPr>
            <a:picLocks noChangeAspect="1"/>
          </p:cNvPicPr>
          <p:nvPr/>
        </p:nvPicPr>
        <p:blipFill>
          <a:blip r:embed="rId1"/>
          <a:stretch>
            <a:fillRect/>
          </a:stretch>
        </p:blipFill>
        <p:spPr>
          <a:xfrm>
            <a:off x="960120" y="1691640"/>
            <a:ext cx="2880360" cy="2880360"/>
          </a:xfrm>
          <a:prstGeom prst="rect">
            <a:avLst/>
          </a:prstGeom>
        </p:spPr>
      </p:pic>
      <p:sp>
        <p:nvSpPr>
          <p:cNvPr id="5" name="Text 2"/>
          <p:cNvSpPr txBox="1"/>
          <p:nvPr/>
        </p:nvSpPr>
        <p:spPr>
          <a:xfrm>
            <a:off x="685800" y="5029200"/>
            <a:ext cx="3429000" cy="548640"/>
          </a:xfrm>
          <a:prstGeom prst="rect">
            <a:avLst/>
          </a:prstGeom>
          <a:noFill/>
          <a:ln/>
        </p:spPr>
        <p:txBody>
          <a:bodyPr wrap="square" lIns="0" tIns="0" rIns="0" bIns="0" rtlCol="0" anchor="ctr"/>
          <a:lstStyle/>
          <a:p>
            <a:pPr algn="ctr" indent="0" marL="0">
              <a:buNone/>
            </a:pPr>
            <a:r>
              <a:rPr lang="en-US" sz="3000" b="1" spc="100" kern="0" dirty="0">
                <a:solidFill>
                  <a:srgbClr val="8EE3F5"/>
                </a:solidFill>
                <a:latin typeface="Calibri" pitchFamily="34" charset="0"/>
                <a:ea typeface="Calibri" pitchFamily="34" charset="-122"/>
                <a:cs typeface="Calibri" pitchFamily="34" charset="-120"/>
              </a:rPr>
              <a:t>3.214.41.73</a:t>
            </a:r>
            <a:endParaRPr lang="en-US" sz="3000" dirty="0"/>
          </a:p>
        </p:txBody>
      </p:sp>
      <p:sp>
        <p:nvSpPr>
          <p:cNvPr id="6" name="Shape 3"/>
          <p:cNvSpPr/>
          <p:nvPr/>
        </p:nvSpPr>
        <p:spPr>
          <a:xfrm>
            <a:off x="4709160" y="1417320"/>
            <a:ext cx="2176272" cy="1417320"/>
          </a:xfrm>
          <a:prstGeom prst="roundRect">
            <a:avLst>
              <a:gd name="adj" fmla="val 9032"/>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7" name="Shape 4"/>
          <p:cNvSpPr/>
          <p:nvPr/>
        </p:nvSpPr>
        <p:spPr>
          <a:xfrm>
            <a:off x="4910328" y="1618488"/>
            <a:ext cx="457200" cy="457200"/>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50000"/>
              </a:srgbClr>
            </a:outerShdw>
          </a:effectLst>
        </p:spPr>
      </p:sp>
      <p:sp>
        <p:nvSpPr>
          <p:cNvPr id="8" name="Text 5"/>
          <p:cNvSpPr txBox="1"/>
          <p:nvPr/>
        </p:nvSpPr>
        <p:spPr>
          <a:xfrm>
            <a:off x="4910328" y="1618488"/>
            <a:ext cx="457200" cy="457200"/>
          </a:xfrm>
          <a:prstGeom prst="rect">
            <a:avLst/>
          </a:prstGeom>
          <a:noFill/>
          <a:ln/>
        </p:spPr>
        <p:txBody>
          <a:bodyPr wrap="square" lIns="0" tIns="0" rIns="0" bIns="0" rtlCol="0" anchor="ctr"/>
          <a:lstStyle/>
          <a:p>
            <a:pPr algn="ctr" indent="0" marL="0">
              <a:buNone/>
            </a:pPr>
            <a:r>
              <a:rPr lang="en-US" sz="1500" b="1" dirty="0">
                <a:solidFill>
                  <a:srgbClr val="5CE6B0"/>
                </a:solidFill>
                <a:latin typeface="Calibri" pitchFamily="34" charset="0"/>
                <a:ea typeface="Calibri" pitchFamily="34" charset="-122"/>
                <a:cs typeface="Calibri" pitchFamily="34" charset="-120"/>
              </a:rPr>
              <a:t>1</a:t>
            </a:r>
            <a:endParaRPr lang="en-US" sz="1500" dirty="0"/>
          </a:p>
        </p:txBody>
      </p:sp>
      <p:pic>
        <p:nvPicPr>
          <p:cNvPr id="9" name="Image 1" descr="preencoded.png">    </p:cNvPr>
          <p:cNvPicPr>
            <a:picLocks noChangeAspect="1"/>
          </p:cNvPicPr>
          <p:nvPr/>
        </p:nvPicPr>
        <p:blipFill>
          <a:blip r:embed="rId2"/>
          <a:stretch>
            <a:fillRect/>
          </a:stretch>
        </p:blipFill>
        <p:spPr>
          <a:xfrm>
            <a:off x="6318504" y="1664208"/>
            <a:ext cx="365760" cy="365760"/>
          </a:xfrm>
          <a:prstGeom prst="rect">
            <a:avLst/>
          </a:prstGeom>
        </p:spPr>
      </p:pic>
      <p:sp>
        <p:nvSpPr>
          <p:cNvPr id="10" name="Text 6"/>
          <p:cNvSpPr txBox="1"/>
          <p:nvPr/>
        </p:nvSpPr>
        <p:spPr>
          <a:xfrm>
            <a:off x="4910328" y="2194560"/>
            <a:ext cx="1810512" cy="502920"/>
          </a:xfrm>
          <a:prstGeom prst="rect">
            <a:avLst/>
          </a:prstGeom>
          <a:noFill/>
          <a:ln/>
        </p:spPr>
        <p:txBody>
          <a:bodyPr wrap="square" lIns="0" tIns="0" rIns="0" bIns="0" rtlCol="0" anchor="t"/>
          <a:lstStyle/>
          <a:p>
            <a:pPr indent="0" marL="0">
              <a:buNone/>
            </a:pPr>
            <a:r>
              <a:rPr lang="en-US" sz="1600" b="1" dirty="0">
                <a:solidFill>
                  <a:srgbClr val="F4F8FC"/>
                </a:solidFill>
                <a:latin typeface="Calibri" pitchFamily="34" charset="0"/>
                <a:ea typeface="Calibri" pitchFamily="34" charset="-122"/>
                <a:cs typeface="Calibri" pitchFamily="34" charset="-120"/>
              </a:rPr>
              <a:t>Scan the code</a:t>
            </a:r>
            <a:endParaRPr lang="en-US" sz="1600" dirty="0"/>
          </a:p>
        </p:txBody>
      </p:sp>
      <p:sp>
        <p:nvSpPr>
          <p:cNvPr id="11" name="Shape 7"/>
          <p:cNvSpPr/>
          <p:nvPr/>
        </p:nvSpPr>
        <p:spPr>
          <a:xfrm>
            <a:off x="7068312" y="1417320"/>
            <a:ext cx="2176272" cy="1417320"/>
          </a:xfrm>
          <a:prstGeom prst="roundRect">
            <a:avLst>
              <a:gd name="adj" fmla="val 9032"/>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2" name="Shape 8"/>
          <p:cNvSpPr/>
          <p:nvPr/>
        </p:nvSpPr>
        <p:spPr>
          <a:xfrm>
            <a:off x="7269480" y="1618488"/>
            <a:ext cx="457200" cy="457200"/>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50000"/>
              </a:srgbClr>
            </a:outerShdw>
          </a:effectLst>
        </p:spPr>
      </p:sp>
      <p:sp>
        <p:nvSpPr>
          <p:cNvPr id="13" name="Text 9"/>
          <p:cNvSpPr txBox="1"/>
          <p:nvPr/>
        </p:nvSpPr>
        <p:spPr>
          <a:xfrm>
            <a:off x="7269480" y="1618488"/>
            <a:ext cx="457200" cy="457200"/>
          </a:xfrm>
          <a:prstGeom prst="rect">
            <a:avLst/>
          </a:prstGeom>
          <a:noFill/>
          <a:ln/>
        </p:spPr>
        <p:txBody>
          <a:bodyPr wrap="square" lIns="0" tIns="0" rIns="0" bIns="0" rtlCol="0" anchor="ctr"/>
          <a:lstStyle/>
          <a:p>
            <a:pPr algn="ctr" indent="0" marL="0">
              <a:buNone/>
            </a:pPr>
            <a:r>
              <a:rPr lang="en-US" sz="1500" b="1" dirty="0">
                <a:solidFill>
                  <a:srgbClr val="5CE6B0"/>
                </a:solidFill>
                <a:latin typeface="Calibri" pitchFamily="34" charset="0"/>
                <a:ea typeface="Calibri" pitchFamily="34" charset="-122"/>
                <a:cs typeface="Calibri" pitchFamily="34" charset="-120"/>
              </a:rPr>
              <a:t>2</a:t>
            </a:r>
            <a:endParaRPr lang="en-US" sz="1500" dirty="0"/>
          </a:p>
        </p:txBody>
      </p:sp>
      <p:pic>
        <p:nvPicPr>
          <p:cNvPr id="14" name="Image 2" descr="preencoded.png">    </p:cNvPr>
          <p:cNvPicPr>
            <a:picLocks noChangeAspect="1"/>
          </p:cNvPicPr>
          <p:nvPr/>
        </p:nvPicPr>
        <p:blipFill>
          <a:blip r:embed="rId3"/>
          <a:stretch>
            <a:fillRect/>
          </a:stretch>
        </p:blipFill>
        <p:spPr>
          <a:xfrm>
            <a:off x="8677656" y="1664208"/>
            <a:ext cx="365760" cy="365760"/>
          </a:xfrm>
          <a:prstGeom prst="rect">
            <a:avLst/>
          </a:prstGeom>
        </p:spPr>
      </p:pic>
      <p:sp>
        <p:nvSpPr>
          <p:cNvPr id="15" name="Text 10"/>
          <p:cNvSpPr txBox="1"/>
          <p:nvPr/>
        </p:nvSpPr>
        <p:spPr>
          <a:xfrm>
            <a:off x="7269480" y="2194560"/>
            <a:ext cx="1810512" cy="502920"/>
          </a:xfrm>
          <a:prstGeom prst="rect">
            <a:avLst/>
          </a:prstGeom>
          <a:noFill/>
          <a:ln/>
        </p:spPr>
        <p:txBody>
          <a:bodyPr wrap="square" lIns="0" tIns="0" rIns="0" bIns="0" rtlCol="0" anchor="t"/>
          <a:lstStyle/>
          <a:p>
            <a:pPr indent="0" marL="0">
              <a:buNone/>
            </a:pPr>
            <a:r>
              <a:rPr lang="en-US" sz="1600" b="1" dirty="0">
                <a:solidFill>
                  <a:srgbClr val="F4F8FC"/>
                </a:solidFill>
                <a:latin typeface="Calibri" pitchFamily="34" charset="0"/>
                <a:ea typeface="Calibri" pitchFamily="34" charset="-122"/>
                <a:cs typeface="Calibri" pitchFamily="34" charset="-120"/>
              </a:rPr>
              <a:t>Enter your first name</a:t>
            </a:r>
            <a:endParaRPr lang="en-US" sz="1600" dirty="0"/>
          </a:p>
        </p:txBody>
      </p:sp>
      <p:sp>
        <p:nvSpPr>
          <p:cNvPr id="16" name="Shape 11"/>
          <p:cNvSpPr/>
          <p:nvPr/>
        </p:nvSpPr>
        <p:spPr>
          <a:xfrm>
            <a:off x="9427464" y="1417320"/>
            <a:ext cx="2176272" cy="1417320"/>
          </a:xfrm>
          <a:prstGeom prst="roundRect">
            <a:avLst>
              <a:gd name="adj" fmla="val 9032"/>
            </a:avLst>
          </a:prstGeom>
          <a:solidFill>
            <a:srgbClr val="0F1E33">
              <a:alpha val="82000"/>
            </a:srgbClr>
          </a:solidFill>
          <a:ln w="12700">
            <a:solidFill>
              <a:srgbClr val="27476A"/>
            </a:solidFill>
            <a:prstDash val="solid"/>
          </a:ln>
          <a:effectLst>
            <a:outerShdw sx="100000" sy="100000" kx="0" ky="0" algn="bl" rotWithShape="0" blurRad="127000" dist="38100" dir="5400000">
              <a:srgbClr val="000000">
                <a:alpha val="35000"/>
              </a:srgbClr>
            </a:outerShdw>
          </a:effectLst>
        </p:spPr>
      </p:sp>
      <p:sp>
        <p:nvSpPr>
          <p:cNvPr id="17" name="Shape 12"/>
          <p:cNvSpPr/>
          <p:nvPr/>
        </p:nvSpPr>
        <p:spPr>
          <a:xfrm>
            <a:off x="9628632" y="1618488"/>
            <a:ext cx="457200" cy="457200"/>
          </a:xfrm>
          <a:prstGeom prst="ellipse">
            <a:avLst/>
          </a:prstGeom>
          <a:solidFill>
            <a:srgbClr val="132842"/>
          </a:solidFill>
          <a:ln w="15875">
            <a:solidFill>
              <a:srgbClr val="5CE6B0"/>
            </a:solidFill>
            <a:prstDash val="solid"/>
          </a:ln>
          <a:effectLst>
            <a:outerShdw sx="100000" sy="100000" kx="0" ky="0" algn="bl" rotWithShape="0" blurRad="127000" dist="50800" dir="5400000">
              <a:srgbClr val="5CE6B0">
                <a:alpha val="50000"/>
              </a:srgbClr>
            </a:outerShdw>
          </a:effectLst>
        </p:spPr>
      </p:sp>
      <p:sp>
        <p:nvSpPr>
          <p:cNvPr id="18" name="Text 13"/>
          <p:cNvSpPr txBox="1"/>
          <p:nvPr/>
        </p:nvSpPr>
        <p:spPr>
          <a:xfrm>
            <a:off x="9628632" y="1618488"/>
            <a:ext cx="457200" cy="457200"/>
          </a:xfrm>
          <a:prstGeom prst="rect">
            <a:avLst/>
          </a:prstGeom>
          <a:noFill/>
          <a:ln/>
        </p:spPr>
        <p:txBody>
          <a:bodyPr wrap="square" lIns="0" tIns="0" rIns="0" bIns="0" rtlCol="0" anchor="ctr"/>
          <a:lstStyle/>
          <a:p>
            <a:pPr algn="ctr" indent="0" marL="0">
              <a:buNone/>
            </a:pPr>
            <a:r>
              <a:rPr lang="en-US" sz="1500" b="1" dirty="0">
                <a:solidFill>
                  <a:srgbClr val="5CE6B0"/>
                </a:solidFill>
                <a:latin typeface="Calibri" pitchFamily="34" charset="0"/>
                <a:ea typeface="Calibri" pitchFamily="34" charset="-122"/>
                <a:cs typeface="Calibri" pitchFamily="34" charset="-120"/>
              </a:rPr>
              <a:t>3</a:t>
            </a:r>
            <a:endParaRPr lang="en-US" sz="1500" dirty="0"/>
          </a:p>
        </p:txBody>
      </p:sp>
      <p:pic>
        <p:nvPicPr>
          <p:cNvPr id="19" name="Image 3" descr="preencoded.png">    </p:cNvPr>
          <p:cNvPicPr>
            <a:picLocks noChangeAspect="1"/>
          </p:cNvPicPr>
          <p:nvPr/>
        </p:nvPicPr>
        <p:blipFill>
          <a:blip r:embed="rId4"/>
          <a:stretch>
            <a:fillRect/>
          </a:stretch>
        </p:blipFill>
        <p:spPr>
          <a:xfrm>
            <a:off x="11036808" y="1664208"/>
            <a:ext cx="365760" cy="365760"/>
          </a:xfrm>
          <a:prstGeom prst="rect">
            <a:avLst/>
          </a:prstGeom>
        </p:spPr>
      </p:pic>
      <p:sp>
        <p:nvSpPr>
          <p:cNvPr id="20" name="Text 14"/>
          <p:cNvSpPr txBox="1"/>
          <p:nvPr/>
        </p:nvSpPr>
        <p:spPr>
          <a:xfrm>
            <a:off x="9628632" y="2194560"/>
            <a:ext cx="1810512" cy="502920"/>
          </a:xfrm>
          <a:prstGeom prst="rect">
            <a:avLst/>
          </a:prstGeom>
          <a:noFill/>
          <a:ln/>
        </p:spPr>
        <p:txBody>
          <a:bodyPr wrap="square" lIns="0" tIns="0" rIns="0" bIns="0" rtlCol="0" anchor="t"/>
          <a:lstStyle/>
          <a:p>
            <a:pPr indent="0" marL="0">
              <a:buNone/>
            </a:pPr>
            <a:r>
              <a:rPr lang="en-US" sz="1600" b="1" dirty="0">
                <a:solidFill>
                  <a:srgbClr val="F4F8FC"/>
                </a:solidFill>
                <a:latin typeface="Calibri" pitchFamily="34" charset="0"/>
                <a:ea typeface="Calibri" pitchFamily="34" charset="-122"/>
                <a:cs typeface="Calibri" pitchFamily="34" charset="-120"/>
              </a:rPr>
              <a:t>Ask it about your workday</a:t>
            </a:r>
            <a:endParaRPr lang="en-US" sz="1600" dirty="0"/>
          </a:p>
        </p:txBody>
      </p:sp>
      <p:sp>
        <p:nvSpPr>
          <p:cNvPr id="21" name="Shape 15"/>
          <p:cNvSpPr/>
          <p:nvPr/>
        </p:nvSpPr>
        <p:spPr>
          <a:xfrm>
            <a:off x="4709160" y="3063240"/>
            <a:ext cx="6894576" cy="2423160"/>
          </a:xfrm>
          <a:prstGeom prst="roundRect">
            <a:avLst>
              <a:gd name="adj" fmla="val 5283"/>
            </a:avLst>
          </a:prstGeom>
          <a:solidFill>
            <a:srgbClr val="132842">
              <a:alpha val="90000"/>
            </a:srgbClr>
          </a:solidFill>
          <a:ln w="12700">
            <a:solidFill>
              <a:srgbClr val="8EE3F5"/>
            </a:solidFill>
            <a:prstDash val="solid"/>
          </a:ln>
          <a:effectLst>
            <a:outerShdw sx="100000" sy="100000" kx="0" ky="0" algn="bl" rotWithShape="0" blurRad="177800" dist="50800" dir="5400000">
              <a:srgbClr val="8EE3F5">
                <a:alpha val="55000"/>
              </a:srgbClr>
            </a:outerShdw>
          </a:effectLst>
        </p:spPr>
      </p:sp>
      <p:pic>
        <p:nvPicPr>
          <p:cNvPr id="22" name="Image 4" descr="preencoded.png">    </p:cNvPr>
          <p:cNvPicPr>
            <a:picLocks noChangeAspect="1"/>
          </p:cNvPicPr>
          <p:nvPr/>
        </p:nvPicPr>
        <p:blipFill>
          <a:blip r:embed="rId5"/>
          <a:stretch>
            <a:fillRect/>
          </a:stretch>
        </p:blipFill>
        <p:spPr>
          <a:xfrm>
            <a:off x="4983480" y="3291840"/>
            <a:ext cx="292608" cy="292608"/>
          </a:xfrm>
          <a:prstGeom prst="rect">
            <a:avLst/>
          </a:prstGeom>
        </p:spPr>
      </p:pic>
      <p:sp>
        <p:nvSpPr>
          <p:cNvPr id="23" name="Text 16"/>
          <p:cNvSpPr txBox="1"/>
          <p:nvPr/>
        </p:nvSpPr>
        <p:spPr>
          <a:xfrm>
            <a:off x="5394960" y="3291840"/>
            <a:ext cx="2743200" cy="292608"/>
          </a:xfrm>
          <a:prstGeom prst="rect">
            <a:avLst/>
          </a:prstGeom>
          <a:noFill/>
          <a:ln/>
        </p:spPr>
        <p:txBody>
          <a:bodyPr wrap="square" lIns="0" tIns="0" rIns="0" bIns="0" rtlCol="0" anchor="ctr"/>
          <a:lstStyle/>
          <a:p>
            <a:pPr indent="0" marL="0">
              <a:buNone/>
            </a:pPr>
            <a:r>
              <a:rPr lang="en-US" sz="1100" b="1" spc="300" kern="0" dirty="0">
                <a:solidFill>
                  <a:srgbClr val="F2C46D"/>
                </a:solidFill>
                <a:latin typeface="Calibri" pitchFamily="34" charset="0"/>
                <a:ea typeface="Calibri" pitchFamily="34" charset="-122"/>
                <a:cs typeface="Calibri" pitchFamily="34" charset="-120"/>
              </a:rPr>
              <a:t>TRY ASKING</a:t>
            </a:r>
            <a:endParaRPr lang="en-US" sz="1100" dirty="0"/>
          </a:p>
        </p:txBody>
      </p:sp>
      <p:sp>
        <p:nvSpPr>
          <p:cNvPr id="24" name="Shape 17"/>
          <p:cNvSpPr/>
          <p:nvPr/>
        </p:nvSpPr>
        <p:spPr>
          <a:xfrm>
            <a:off x="4983480" y="3776472"/>
            <a:ext cx="6345936" cy="438912"/>
          </a:xfrm>
          <a:prstGeom prst="roundRect">
            <a:avLst>
              <a:gd name="adj" fmla="val 50000"/>
            </a:avLst>
          </a:prstGeom>
          <a:solidFill>
            <a:srgbClr val="8EE3F5">
              <a:alpha val="10000"/>
            </a:srgbClr>
          </a:solidFill>
          <a:ln w="9525">
            <a:solidFill>
              <a:srgbClr val="8EE3F5">
                <a:alpha val="50000"/>
              </a:srgbClr>
            </a:solidFill>
            <a:prstDash val="solid"/>
          </a:ln>
        </p:spPr>
      </p:sp>
      <p:sp>
        <p:nvSpPr>
          <p:cNvPr id="25" name="Text 18"/>
          <p:cNvSpPr txBox="1"/>
          <p:nvPr/>
        </p:nvSpPr>
        <p:spPr>
          <a:xfrm>
            <a:off x="5212080" y="3776472"/>
            <a:ext cx="5980176" cy="438912"/>
          </a:xfrm>
          <a:prstGeom prst="rect">
            <a:avLst/>
          </a:prstGeom>
          <a:noFill/>
          <a:ln/>
        </p:spPr>
        <p:txBody>
          <a:bodyPr wrap="square" lIns="0" tIns="0" rIns="0" bIns="0" rtlCol="0" anchor="ctr"/>
          <a:lstStyle/>
          <a:p>
            <a:pPr indent="0" marL="0">
              <a:buNone/>
            </a:pPr>
            <a:r>
              <a:rPr lang="en-US" sz="1500" dirty="0">
                <a:solidFill>
                  <a:srgbClr val="F4F8FC"/>
                </a:solidFill>
                <a:latin typeface="Calibri" pitchFamily="34" charset="0"/>
                <a:ea typeface="Calibri" pitchFamily="34" charset="-122"/>
                <a:cs typeface="Calibri" pitchFamily="34" charset="-120"/>
              </a:rPr>
              <a:t>“What's on my plate this week, and can I take Friday off?”</a:t>
            </a:r>
            <a:endParaRPr lang="en-US" sz="1500" dirty="0"/>
          </a:p>
        </p:txBody>
      </p:sp>
      <p:sp>
        <p:nvSpPr>
          <p:cNvPr id="26" name="Shape 19"/>
          <p:cNvSpPr/>
          <p:nvPr/>
        </p:nvSpPr>
        <p:spPr>
          <a:xfrm>
            <a:off x="4983480" y="4325112"/>
            <a:ext cx="6345936" cy="438912"/>
          </a:xfrm>
          <a:prstGeom prst="roundRect">
            <a:avLst>
              <a:gd name="adj" fmla="val 50000"/>
            </a:avLst>
          </a:prstGeom>
          <a:solidFill>
            <a:srgbClr val="8EE3F5">
              <a:alpha val="10000"/>
            </a:srgbClr>
          </a:solidFill>
          <a:ln w="9525">
            <a:solidFill>
              <a:srgbClr val="8EE3F5">
                <a:alpha val="50000"/>
              </a:srgbClr>
            </a:solidFill>
            <a:prstDash val="solid"/>
          </a:ln>
        </p:spPr>
      </p:sp>
      <p:sp>
        <p:nvSpPr>
          <p:cNvPr id="27" name="Text 20"/>
          <p:cNvSpPr txBox="1"/>
          <p:nvPr/>
        </p:nvSpPr>
        <p:spPr>
          <a:xfrm>
            <a:off x="5212080" y="4325112"/>
            <a:ext cx="5980176" cy="438912"/>
          </a:xfrm>
          <a:prstGeom prst="rect">
            <a:avLst/>
          </a:prstGeom>
          <a:noFill/>
          <a:ln/>
        </p:spPr>
        <p:txBody>
          <a:bodyPr wrap="square" lIns="0" tIns="0" rIns="0" bIns="0" rtlCol="0" anchor="ctr"/>
          <a:lstStyle/>
          <a:p>
            <a:pPr indent="0" marL="0">
              <a:buNone/>
            </a:pPr>
            <a:r>
              <a:rPr lang="en-US" sz="1500" dirty="0">
                <a:solidFill>
                  <a:srgbClr val="F4F8FC"/>
                </a:solidFill>
                <a:latin typeface="Calibri" pitchFamily="34" charset="0"/>
                <a:ea typeface="Calibri" pitchFamily="34" charset="-122"/>
                <a:cs typeface="Calibri" pitchFamily="34" charset="-120"/>
              </a:rPr>
              <a:t>“Can I wear jeans to a client meeting on Friday?”</a:t>
            </a:r>
            <a:endParaRPr lang="en-US" sz="1500" dirty="0"/>
          </a:p>
        </p:txBody>
      </p:sp>
      <p:sp>
        <p:nvSpPr>
          <p:cNvPr id="28" name="Shape 21"/>
          <p:cNvSpPr/>
          <p:nvPr/>
        </p:nvSpPr>
        <p:spPr>
          <a:xfrm>
            <a:off x="4983480" y="4873752"/>
            <a:ext cx="6345936" cy="438912"/>
          </a:xfrm>
          <a:prstGeom prst="roundRect">
            <a:avLst>
              <a:gd name="adj" fmla="val 50000"/>
            </a:avLst>
          </a:prstGeom>
          <a:solidFill>
            <a:srgbClr val="8EE3F5">
              <a:alpha val="10000"/>
            </a:srgbClr>
          </a:solidFill>
          <a:ln w="9525">
            <a:solidFill>
              <a:srgbClr val="8EE3F5">
                <a:alpha val="50000"/>
              </a:srgbClr>
            </a:solidFill>
            <a:prstDash val="solid"/>
          </a:ln>
        </p:spPr>
      </p:sp>
      <p:sp>
        <p:nvSpPr>
          <p:cNvPr id="29" name="Text 22"/>
          <p:cNvSpPr txBox="1"/>
          <p:nvPr/>
        </p:nvSpPr>
        <p:spPr>
          <a:xfrm>
            <a:off x="5212080" y="4873752"/>
            <a:ext cx="5980176" cy="438912"/>
          </a:xfrm>
          <a:prstGeom prst="rect">
            <a:avLst/>
          </a:prstGeom>
          <a:noFill/>
          <a:ln/>
        </p:spPr>
        <p:txBody>
          <a:bodyPr wrap="square" lIns="0" tIns="0" rIns="0" bIns="0" rtlCol="0" anchor="ctr"/>
          <a:lstStyle/>
          <a:p>
            <a:pPr indent="0" marL="0">
              <a:buNone/>
            </a:pPr>
            <a:r>
              <a:rPr lang="en-US" sz="1500" dirty="0">
                <a:solidFill>
                  <a:srgbClr val="F4F8FC"/>
                </a:solidFill>
                <a:latin typeface="Calibri" pitchFamily="34" charset="0"/>
                <a:ea typeface="Calibri" pitchFamily="34" charset="-122"/>
                <a:cs typeface="Calibri" pitchFamily="34" charset="-120"/>
              </a:rPr>
              <a:t>“Summarize my September expenses.”</a:t>
            </a:r>
            <a:endParaRPr lang="en-US" sz="1500" dirty="0"/>
          </a:p>
        </p:txBody>
      </p:sp>
      <p:sp>
        <p:nvSpPr>
          <p:cNvPr id="30" name="Text 23"/>
          <p:cNvSpPr txBox="1"/>
          <p:nvPr/>
        </p:nvSpPr>
        <p:spPr>
          <a:xfrm>
            <a:off x="4709160" y="5669280"/>
            <a:ext cx="6894576" cy="320040"/>
          </a:xfrm>
          <a:prstGeom prst="rect">
            <a:avLst/>
          </a:prstGeom>
          <a:noFill/>
          <a:ln/>
        </p:spPr>
        <p:txBody>
          <a:bodyPr wrap="square" lIns="0" tIns="0" rIns="0" bIns="0" rtlCol="0" anchor="ctr"/>
          <a:lstStyle/>
          <a:p>
            <a:pPr indent="0" marL="0">
              <a:buNone/>
            </a:pPr>
            <a:r>
              <a:rPr lang="en-US" sz="1200" i="1" dirty="0">
                <a:solidFill>
                  <a:srgbClr val="A3B5C9"/>
                </a:solidFill>
                <a:latin typeface="Calibri" pitchFamily="34" charset="0"/>
                <a:ea typeface="Calibri" pitchFamily="34" charset="-122"/>
                <a:cs typeface="Calibri" pitchFamily="34" charset="-120"/>
              </a:rPr>
              <a:t>Everything in it is fictional. The server is on until 6:00 PM Central.</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F849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North Star mark">    </p:cNvPr>
          <p:cNvPicPr>
            <a:picLocks noChangeAspect="1"/>
          </p:cNvPicPr>
          <p:nvPr/>
        </p:nvPicPr>
        <p:blipFill>
          <a:blip r:embed="rId1"/>
          <a:stretch>
            <a:fillRect/>
          </a:stretch>
        </p:blipFill>
        <p:spPr>
          <a:xfrm>
            <a:off x="822960" y="2697480"/>
            <a:ext cx="548640" cy="548640"/>
          </a:xfrm>
          <a:prstGeom prst="rect">
            <a:avLst/>
          </a:prstGeom>
        </p:spPr>
      </p:pic>
      <p:sp>
        <p:nvSpPr>
          <p:cNvPr id="3" name="Text 0"/>
          <p:cNvSpPr txBox="1"/>
          <p:nvPr/>
        </p:nvSpPr>
        <p:spPr>
          <a:xfrm>
            <a:off x="822960" y="3291840"/>
            <a:ext cx="7315200" cy="1188720"/>
          </a:xfrm>
          <a:prstGeom prst="rect">
            <a:avLst/>
          </a:prstGeom>
          <a:noFill/>
          <a:ln/>
        </p:spPr>
        <p:txBody>
          <a:bodyPr wrap="square" lIns="0" tIns="0" rIns="0" bIns="0" rtlCol="0" anchor="ctr"/>
          <a:lstStyle/>
          <a:p>
            <a:pPr indent="0" marL="0">
              <a:buNone/>
            </a:pPr>
            <a:r>
              <a:rPr lang="en-US" sz="8000" b="1" dirty="0">
                <a:solidFill>
                  <a:srgbClr val="F4F8FC"/>
                </a:solidFill>
                <a:latin typeface="Calibri" pitchFamily="34" charset="0"/>
                <a:ea typeface="Calibri" pitchFamily="34" charset="-122"/>
                <a:cs typeface="Calibri" pitchFamily="34" charset="-120"/>
              </a:rPr>
              <a:t>Questions?</a:t>
            </a:r>
            <a:endParaRPr lang="en-US" sz="8000" dirty="0"/>
          </a:p>
        </p:txBody>
      </p:sp>
      <p:sp>
        <p:nvSpPr>
          <p:cNvPr id="4" name="Text 1"/>
          <p:cNvSpPr txBox="1"/>
          <p:nvPr/>
        </p:nvSpPr>
        <p:spPr>
          <a:xfrm>
            <a:off x="822960" y="4572000"/>
            <a:ext cx="6400800" cy="457200"/>
          </a:xfrm>
          <a:prstGeom prst="rect">
            <a:avLst/>
          </a:prstGeom>
          <a:noFill/>
          <a:ln/>
        </p:spPr>
        <p:txBody>
          <a:bodyPr wrap="square" lIns="0" tIns="0" rIns="0" bIns="0" rtlCol="0" anchor="ctr"/>
          <a:lstStyle/>
          <a:p>
            <a:pPr indent="0" marL="0">
              <a:buNone/>
            </a:pPr>
            <a:r>
              <a:rPr lang="en-US" sz="2200" b="1" dirty="0">
                <a:solidFill>
                  <a:srgbClr val="F4F8FC"/>
                </a:solidFill>
                <a:latin typeface="Calibri" pitchFamily="34" charset="0"/>
                <a:ea typeface="Calibri" pitchFamily="34" charset="-122"/>
                <a:cs typeface="Calibri" pitchFamily="34" charset="-120"/>
              </a:rPr>
              <a:t>David Dunmeyer and Biswa Samal</a:t>
            </a:r>
            <a:endParaRPr lang="en-US" sz="2200" dirty="0"/>
          </a:p>
        </p:txBody>
      </p:sp>
      <p:pic>
        <p:nvPicPr>
          <p:cNvPr id="5" name="Image 1" descr="preencoded.png">    </p:cNvPr>
          <p:cNvPicPr>
            <a:picLocks noChangeAspect="1"/>
          </p:cNvPicPr>
          <p:nvPr/>
        </p:nvPicPr>
        <p:blipFill>
          <a:blip r:embed="rId2"/>
          <a:stretch>
            <a:fillRect/>
          </a:stretch>
        </p:blipFill>
        <p:spPr>
          <a:xfrm>
            <a:off x="822960" y="5120640"/>
            <a:ext cx="274320" cy="274320"/>
          </a:xfrm>
          <a:prstGeom prst="rect">
            <a:avLst/>
          </a:prstGeom>
        </p:spPr>
      </p:pic>
      <p:sp>
        <p:nvSpPr>
          <p:cNvPr id="6" name="Text 2"/>
          <p:cNvSpPr txBox="1"/>
          <p:nvPr/>
        </p:nvSpPr>
        <p:spPr>
          <a:xfrm>
            <a:off x="1207008" y="5074920"/>
            <a:ext cx="5486400" cy="365760"/>
          </a:xfrm>
          <a:prstGeom prst="rect">
            <a:avLst/>
          </a:prstGeom>
          <a:noFill/>
          <a:ln/>
        </p:spPr>
        <p:txBody>
          <a:bodyPr wrap="square" lIns="0" tIns="0" rIns="0" bIns="0" rtlCol="0" anchor="ctr"/>
          <a:lstStyle/>
          <a:p>
            <a:pPr indent="0" marL="0">
              <a:buNone/>
            </a:pPr>
            <a:r>
              <a:rPr lang="en-US" sz="1600" dirty="0">
                <a:solidFill>
                  <a:srgbClr val="8EE3F5"/>
                </a:solidFill>
                <a:latin typeface="Calibri" pitchFamily="34" charset="0"/>
                <a:ea typeface="Calibri" pitchFamily="34" charset="-122"/>
                <a:cs typeface="Calibri" pitchFamily="34" charset="-120"/>
              </a:rPr>
              <a:t>github.com/ddunmeyer/NorthStar</a:t>
            </a:r>
            <a:endParaRPr lang="en-US" sz="1600" dirty="0"/>
          </a:p>
        </p:txBody>
      </p:sp>
      <p:sp>
        <p:nvSpPr>
          <p:cNvPr id="7" name="Text 3"/>
          <p:cNvSpPr txBox="1"/>
          <p:nvPr/>
        </p:nvSpPr>
        <p:spPr>
          <a:xfrm>
            <a:off x="822960" y="5897880"/>
            <a:ext cx="5486400" cy="411480"/>
          </a:xfrm>
          <a:prstGeom prst="rect">
            <a:avLst/>
          </a:prstGeom>
          <a:noFill/>
          <a:ln/>
        </p:spPr>
        <p:txBody>
          <a:bodyPr wrap="square" lIns="0" tIns="0" rIns="0" bIns="0" rtlCol="0" anchor="ctr"/>
          <a:lstStyle/>
          <a:p>
            <a:pPr indent="0" marL="0">
              <a:buNone/>
            </a:pPr>
            <a:r>
              <a:rPr lang="en-US" sz="1800" i="1" dirty="0">
                <a:solidFill>
                  <a:srgbClr val="5CE6B0"/>
                </a:solidFill>
                <a:latin typeface="Calibri" pitchFamily="34" charset="0"/>
                <a:ea typeface="Calibri" pitchFamily="34" charset="-122"/>
                <a:cs typeface="Calibri" pitchFamily="34" charset="-120"/>
              </a:rPr>
              <a:t>Your workday. On course.</a:t>
            </a:r>
            <a:endParaRPr lang="en-US" sz="1800" dirty="0"/>
          </a:p>
        </p:txBody>
      </p:sp>
      <p:sp>
        <p:nvSpPr>
          <p:cNvPr id="8" name="Shape 4"/>
          <p:cNvSpPr/>
          <p:nvPr/>
        </p:nvSpPr>
        <p:spPr>
          <a:xfrm>
            <a:off x="9418320" y="3246120"/>
            <a:ext cx="2103120" cy="2103120"/>
          </a:xfrm>
          <a:prstGeom prst="roundRect">
            <a:avLst>
              <a:gd name="adj" fmla="val 8696"/>
            </a:avLst>
          </a:prstGeom>
          <a:solidFill>
            <a:srgbClr val="FFFFFF"/>
          </a:solidFill>
          <a:ln w="25400">
            <a:solidFill>
              <a:srgbClr val="8EE3F5"/>
            </a:solidFill>
            <a:prstDash val="solid"/>
          </a:ln>
          <a:effectLst>
            <a:outerShdw sx="100000" sy="100000" kx="0" ky="0" algn="bl" rotWithShape="0" blurRad="304800" dist="50800" dir="5400000">
              <a:srgbClr val="8EE3F5">
                <a:alpha val="60000"/>
              </a:srgbClr>
            </a:outerShdw>
          </a:effectLst>
        </p:spPr>
      </p:sp>
      <p:pic>
        <p:nvPicPr>
          <p:cNvPr id="9" name="Image 2" descr="QR code that opens http://3.214.41.73">    </p:cNvPr>
          <p:cNvPicPr>
            <a:picLocks noChangeAspect="1"/>
          </p:cNvPicPr>
          <p:nvPr/>
        </p:nvPicPr>
        <p:blipFill>
          <a:blip r:embed="rId3"/>
          <a:stretch>
            <a:fillRect/>
          </a:stretch>
        </p:blipFill>
        <p:spPr>
          <a:xfrm>
            <a:off x="9582912" y="3410712"/>
            <a:ext cx="1773936" cy="1773936"/>
          </a:xfrm>
          <a:prstGeom prst="rect">
            <a:avLst/>
          </a:prstGeom>
        </p:spPr>
      </p:pic>
      <p:sp>
        <p:nvSpPr>
          <p:cNvPr id="10" name="Text 5"/>
          <p:cNvSpPr txBox="1"/>
          <p:nvPr/>
        </p:nvSpPr>
        <p:spPr>
          <a:xfrm>
            <a:off x="9144000" y="5486400"/>
            <a:ext cx="2651760" cy="320040"/>
          </a:xfrm>
          <a:prstGeom prst="rect">
            <a:avLst/>
          </a:prstGeom>
          <a:noFill/>
          <a:ln/>
        </p:spPr>
        <p:txBody>
          <a:bodyPr wrap="square" lIns="0" tIns="0" rIns="0" bIns="0" rtlCol="0" anchor="ctr"/>
          <a:lstStyle/>
          <a:p>
            <a:pPr algn="ctr" indent="0" marL="0">
              <a:buNone/>
            </a:pPr>
            <a:r>
              <a:rPr lang="en-US" sz="1300" dirty="0">
                <a:solidFill>
                  <a:srgbClr val="A3B5C9"/>
                </a:solidFill>
                <a:latin typeface="Calibri" pitchFamily="34" charset="0"/>
                <a:ea typeface="Calibri" pitchFamily="34" charset="-122"/>
                <a:cs typeface="Calibri" pitchFamily="34" charset="-120"/>
              </a:rPr>
              <a:t>Still open: scan to try it</a:t>
            </a:r>
            <a:endParaRPr lang="en-US" sz="1300" dirty="0"/>
          </a:p>
        </p:txBody>
      </p:sp>
    </p:spTree>
  </p:cSld>
  <p:clrMapOvr>
    <a:masterClrMapping/>
  </p:clrMapOvr>
</p:sld>
</file>

<file path=ppt/theme/theme1.xml><?xml version="1.0" encoding="utf-8"?>
<a:theme xmlns:a="http://schemas.openxmlformats.org/drawingml/2006/main" name="North Star Aurora">
  <a:themeElements>
    <a:clrScheme name="North Star Aurora">
      <a:dk1>
        <a:srgbClr val="081120"/>
      </a:dk1>
      <a:lt1>
        <a:srgbClr val="FFFFFF"/>
      </a:lt1>
      <a:dk2>
        <a:srgbClr val="0F1E33"/>
      </a:dk2>
      <a:lt2>
        <a:srgbClr val="E8F0F8"/>
      </a:lt2>
      <a:accent1>
        <a:srgbClr val="5CE6B0"/>
      </a:accent1>
      <a:accent2>
        <a:srgbClr val="8EE3F5"/>
      </a:accent2>
      <a:accent3>
        <a:srgbClr val="F2C46D"/>
      </a:accent3>
      <a:accent4>
        <a:srgbClr val="B7A4FF"/>
      </a:accent4>
      <a:accent5>
        <a:srgbClr val="F59E8B"/>
      </a:accent5>
      <a:accent6>
        <a:srgbClr val="4A90C2"/>
      </a:accent6>
      <a:hlink>
        <a:srgbClr val="8EE3F5"/>
      </a:hlink>
      <a:folHlink>
        <a:srgbClr val="B7A4FF"/>
      </a:folHlink>
    </a:clrScheme>
    <a:fontScheme name="North Star Auror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Star</dc:title>
  <dc:subject>PptxGenJS Presentation</dc:subject>
  <dc:creator>David Dunmeyer and Biswa Samal</dc:creator>
  <cp:lastModifiedBy>David Dunmeyer and Biswa Samal</cp:lastModifiedBy>
  <cp:revision>1</cp:revision>
  <dcterms:created xsi:type="dcterms:W3CDTF">2026-10-09T20:46:41Z</dcterms:created>
  <dcterms:modified xsi:type="dcterms:W3CDTF">2026-10-09T20:46:41Z</dcterms:modified>
</cp:coreProperties>
</file>